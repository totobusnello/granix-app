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5" pos="14470" userDrawn="1">
          <p15:clr>
            <a:srgbClr val="A4A3A4"/>
          </p15:clr>
        </p15:guide>
        <p15:guide id="52" pos="7678" userDrawn="1">
          <p15:clr>
            <a:srgbClr val="A4A3A4"/>
          </p15:clr>
        </p15:guide>
        <p15:guide id="53" orient="horz" pos="4320" userDrawn="1">
          <p15:clr>
            <a:srgbClr val="A4A3A4"/>
          </p15:clr>
        </p15:guide>
        <p15:guide id="55" pos="12526" userDrawn="1">
          <p15:clr>
            <a:srgbClr val="A4A3A4"/>
          </p15:clr>
        </p15:guide>
        <p15:guide id="56" orient="horz" pos="69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F2F2F2"/>
    <a:srgbClr val="EFF1F8"/>
    <a:srgbClr val="373737"/>
    <a:srgbClr val="445469"/>
    <a:srgbClr val="000000"/>
    <a:srgbClr val="5A5A66"/>
    <a:srgbClr val="626162"/>
    <a:srgbClr val="C4D4E2"/>
    <a:srgbClr val="CFCFCF"/>
    <a:srgbClr val="6255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9" autoAdjust="0"/>
    <p:restoredTop sz="96301" autoAdjust="0"/>
  </p:normalViewPr>
  <p:slideViewPr>
    <p:cSldViewPr snapToGrid="0" snapToObjects="1">
      <p:cViewPr varScale="1">
        <p:scale>
          <a:sx n="113" d="100"/>
          <a:sy n="113" d="100"/>
        </p:scale>
        <p:origin x="440" y="488"/>
      </p:cViewPr>
      <p:guideLst>
        <p:guide pos="14470"/>
        <p:guide pos="7678"/>
        <p:guide orient="horz" pos="4320"/>
        <p:guide pos="12526"/>
        <p:guide orient="horz" pos="6984"/>
      </p:guideLst>
    </p:cSldViewPr>
  </p:slid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ontserrat Light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ontserrat Light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3/5/26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ontserrat Light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ontserrat Light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1pPr>
    <a:lvl2pPr marL="914217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2pPr>
    <a:lvl3pPr marL="1828434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3pPr>
    <a:lvl4pPr marL="2742651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4pPr>
    <a:lvl5pPr marL="3656868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61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76644" y="-261256"/>
            <a:ext cx="24930938" cy="142385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804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76644" y="-261256"/>
            <a:ext cx="20484883" cy="102739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7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74718" y="0"/>
            <a:ext cx="15402932" cy="93860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4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5402932" cy="93860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30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188825" y="7014164"/>
            <a:ext cx="9815769" cy="67018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88825" y="1"/>
            <a:ext cx="9815769" cy="67018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51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417C144-871D-AE46-8534-9B236256BA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50879" y="5100244"/>
            <a:ext cx="2471016" cy="247101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17C144-871D-AE46-8534-9B236256BA3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550879" y="8888209"/>
            <a:ext cx="2471016" cy="247101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417C144-871D-AE46-8534-9B236256BA3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3368671" y="8888209"/>
            <a:ext cx="2471016" cy="247101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C417C144-871D-AE46-8534-9B236256BA3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3368669" y="5100244"/>
            <a:ext cx="2471016" cy="247101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184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984357" y="1498390"/>
            <a:ext cx="12393292" cy="122176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156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24377650" cy="60089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417C144-871D-AE46-8534-9B236256BA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86383" y="4539344"/>
            <a:ext cx="2939150" cy="293914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C417C144-871D-AE46-8534-9B236256BA3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719247" y="4539344"/>
            <a:ext cx="2939150" cy="293914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C417C144-871D-AE46-8534-9B236256BA3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7652111" y="4539344"/>
            <a:ext cx="2939150" cy="293914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219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880036" y="-2"/>
            <a:ext cx="8497614" cy="13716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556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93515" y="-1"/>
            <a:ext cx="13184135" cy="89511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138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51506" y="6858000"/>
            <a:ext cx="105664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51507" y="1"/>
            <a:ext cx="105664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496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044988" y="6857999"/>
            <a:ext cx="13332662" cy="6858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11044989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2597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70132" y="6858000"/>
            <a:ext cx="105664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70133" y="1"/>
            <a:ext cx="105664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518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6825383" y="0"/>
            <a:ext cx="7552267" cy="137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552267" cy="137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964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46371" y="0"/>
            <a:ext cx="1503128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6858000"/>
            <a:ext cx="15031279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8759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551657" y="-2"/>
            <a:ext cx="9825991" cy="13716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090B5575-571E-0742-A6AE-80FF35BF3EB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583831" y="1616586"/>
            <a:ext cx="6170111" cy="13323990"/>
          </a:xfrm>
          <a:custGeom>
            <a:avLst/>
            <a:gdLst>
              <a:gd name="connsiteX0" fmla="*/ 646380 w 5264340"/>
              <a:gd name="connsiteY0" fmla="*/ 0 h 11126596"/>
              <a:gd name="connsiteX1" fmla="*/ 1063726 w 5264340"/>
              <a:gd name="connsiteY1" fmla="*/ 0 h 11126596"/>
              <a:gd name="connsiteX2" fmla="*/ 1143463 w 5264340"/>
              <a:gd name="connsiteY2" fmla="*/ 21612 h 11126596"/>
              <a:gd name="connsiteX3" fmla="*/ 1170607 w 5264340"/>
              <a:gd name="connsiteY3" fmla="*/ 96421 h 11126596"/>
              <a:gd name="connsiteX4" fmla="*/ 1538755 w 5264340"/>
              <a:gd name="connsiteY4" fmla="*/ 422256 h 11126596"/>
              <a:gd name="connsiteX5" fmla="*/ 3732371 w 5264340"/>
              <a:gd name="connsiteY5" fmla="*/ 422256 h 11126596"/>
              <a:gd name="connsiteX6" fmla="*/ 4098822 w 5264340"/>
              <a:gd name="connsiteY6" fmla="*/ 96421 h 11126596"/>
              <a:gd name="connsiteX7" fmla="*/ 4125967 w 5264340"/>
              <a:gd name="connsiteY7" fmla="*/ 21612 h 11126596"/>
              <a:gd name="connsiteX8" fmla="*/ 4207400 w 5264340"/>
              <a:gd name="connsiteY8" fmla="*/ 0 h 11126596"/>
              <a:gd name="connsiteX9" fmla="*/ 4623051 w 5264340"/>
              <a:gd name="connsiteY9" fmla="*/ 0 h 11126596"/>
              <a:gd name="connsiteX10" fmla="*/ 5264340 w 5264340"/>
              <a:gd name="connsiteY10" fmla="*/ 646683 h 11126596"/>
              <a:gd name="connsiteX11" fmla="*/ 5264340 w 5264340"/>
              <a:gd name="connsiteY11" fmla="*/ 718167 h 11126596"/>
              <a:gd name="connsiteX12" fmla="*/ 5264340 w 5264340"/>
              <a:gd name="connsiteY12" fmla="*/ 6234086 h 11126596"/>
              <a:gd name="connsiteX13" fmla="*/ 5264340 w 5264340"/>
              <a:gd name="connsiteY13" fmla="*/ 6423602 h 11126596"/>
              <a:gd name="connsiteX14" fmla="*/ 5264340 w 5264340"/>
              <a:gd name="connsiteY14" fmla="*/ 10408429 h 11126596"/>
              <a:gd name="connsiteX15" fmla="*/ 5264340 w 5264340"/>
              <a:gd name="connsiteY15" fmla="*/ 10479914 h 11126596"/>
              <a:gd name="connsiteX16" fmla="*/ 4623051 w 5264340"/>
              <a:gd name="connsiteY16" fmla="*/ 11126596 h 11126596"/>
              <a:gd name="connsiteX17" fmla="*/ 646380 w 5264340"/>
              <a:gd name="connsiteY17" fmla="*/ 11126596 h 11126596"/>
              <a:gd name="connsiteX18" fmla="*/ 1697 w 5264340"/>
              <a:gd name="connsiteY18" fmla="*/ 10479914 h 11126596"/>
              <a:gd name="connsiteX19" fmla="*/ 0 w 5264340"/>
              <a:gd name="connsiteY19" fmla="*/ 10408429 h 11126596"/>
              <a:gd name="connsiteX20" fmla="*/ 0 w 5264340"/>
              <a:gd name="connsiteY20" fmla="*/ 6423602 h 11126596"/>
              <a:gd name="connsiteX21" fmla="*/ 0 w 5264340"/>
              <a:gd name="connsiteY21" fmla="*/ 6234086 h 11126596"/>
              <a:gd name="connsiteX22" fmla="*/ 0 w 5264340"/>
              <a:gd name="connsiteY22" fmla="*/ 718167 h 11126596"/>
              <a:gd name="connsiteX23" fmla="*/ 1697 w 5264340"/>
              <a:gd name="connsiteY23" fmla="*/ 646683 h 11126596"/>
              <a:gd name="connsiteX24" fmla="*/ 646380 w 5264340"/>
              <a:gd name="connsiteY24" fmla="*/ 0 h 11126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264340" h="11126596">
                <a:moveTo>
                  <a:pt x="646380" y="0"/>
                </a:moveTo>
                <a:lnTo>
                  <a:pt x="1063726" y="0"/>
                </a:lnTo>
                <a:cubicBezTo>
                  <a:pt x="1109533" y="0"/>
                  <a:pt x="1128194" y="6650"/>
                  <a:pt x="1143463" y="21612"/>
                </a:cubicBezTo>
                <a:cubicBezTo>
                  <a:pt x="1160428" y="38236"/>
                  <a:pt x="1170607" y="58185"/>
                  <a:pt x="1170607" y="96421"/>
                </a:cubicBezTo>
                <a:cubicBezTo>
                  <a:pt x="1170607" y="304224"/>
                  <a:pt x="1299544" y="422256"/>
                  <a:pt x="1538755" y="422256"/>
                </a:cubicBezTo>
                <a:lnTo>
                  <a:pt x="3732371" y="422256"/>
                </a:lnTo>
                <a:cubicBezTo>
                  <a:pt x="3969886" y="422256"/>
                  <a:pt x="4098822" y="304224"/>
                  <a:pt x="4098822" y="96421"/>
                </a:cubicBezTo>
                <a:cubicBezTo>
                  <a:pt x="4098822" y="58185"/>
                  <a:pt x="4109002" y="38236"/>
                  <a:pt x="4125967" y="21612"/>
                </a:cubicBezTo>
                <a:cubicBezTo>
                  <a:pt x="4141236" y="6650"/>
                  <a:pt x="4159898" y="0"/>
                  <a:pt x="4207400" y="0"/>
                </a:cubicBezTo>
                <a:lnTo>
                  <a:pt x="4623051" y="0"/>
                </a:lnTo>
                <a:cubicBezTo>
                  <a:pt x="5033612" y="0"/>
                  <a:pt x="5264340" y="204478"/>
                  <a:pt x="5264340" y="646683"/>
                </a:cubicBezTo>
                <a:cubicBezTo>
                  <a:pt x="5264340" y="658320"/>
                  <a:pt x="5264340" y="706530"/>
                  <a:pt x="5264340" y="718167"/>
                </a:cubicBezTo>
                <a:lnTo>
                  <a:pt x="5264340" y="6234086"/>
                </a:lnTo>
                <a:lnTo>
                  <a:pt x="5264340" y="6423602"/>
                </a:lnTo>
                <a:lnTo>
                  <a:pt x="5264340" y="10408429"/>
                </a:lnTo>
                <a:cubicBezTo>
                  <a:pt x="5264340" y="10420066"/>
                  <a:pt x="5264340" y="10468277"/>
                  <a:pt x="5264340" y="10479914"/>
                </a:cubicBezTo>
                <a:cubicBezTo>
                  <a:pt x="5264340" y="10922118"/>
                  <a:pt x="5033612" y="11126596"/>
                  <a:pt x="4623051" y="11126596"/>
                </a:cubicBezTo>
                <a:lnTo>
                  <a:pt x="646380" y="11126596"/>
                </a:lnTo>
                <a:cubicBezTo>
                  <a:pt x="237515" y="11126596"/>
                  <a:pt x="1697" y="10922118"/>
                  <a:pt x="1697" y="10479914"/>
                </a:cubicBezTo>
                <a:cubicBezTo>
                  <a:pt x="1697" y="10468277"/>
                  <a:pt x="0" y="10420066"/>
                  <a:pt x="0" y="10408429"/>
                </a:cubicBezTo>
                <a:lnTo>
                  <a:pt x="0" y="6423602"/>
                </a:lnTo>
                <a:lnTo>
                  <a:pt x="0" y="6234086"/>
                </a:lnTo>
                <a:lnTo>
                  <a:pt x="0" y="718167"/>
                </a:lnTo>
                <a:cubicBezTo>
                  <a:pt x="0" y="706530"/>
                  <a:pt x="1697" y="658320"/>
                  <a:pt x="1697" y="646683"/>
                </a:cubicBezTo>
                <a:cubicBezTo>
                  <a:pt x="1697" y="204478"/>
                  <a:pt x="237515" y="0"/>
                  <a:pt x="64638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3626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24377648" cy="6858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46100" y="2292324"/>
            <a:ext cx="8696823" cy="54573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0467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889017" y="2461538"/>
            <a:ext cx="6594100" cy="87490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3284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010484" y="-652538"/>
            <a:ext cx="14601371" cy="82996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833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AF8D21A-6CCE-CD43-8AE8-35782B027F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24377649" cy="100126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03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1"/>
            <a:ext cx="21025723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5964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5097" y="12712701"/>
            <a:ext cx="822745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16715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0EC9C-7AA6-034B-8A74-39E46AF9908C}"/>
              </a:ext>
            </a:extLst>
          </p:cNvPr>
          <p:cNvSpPr txBox="1"/>
          <p:nvPr userDrawn="1"/>
        </p:nvSpPr>
        <p:spPr>
          <a:xfrm>
            <a:off x="23660100" y="610541"/>
            <a:ext cx="827716" cy="492406"/>
          </a:xfrm>
          <a:prstGeom prst="rect">
            <a:avLst/>
          </a:prstGeom>
          <a:noFill/>
        </p:spPr>
        <p:txBody>
          <a:bodyPr wrap="none" lIns="182843" tIns="91422" rIns="182843" bIns="91422" rtlCol="0">
            <a:spAutoFit/>
          </a:bodyPr>
          <a:lstStyle/>
          <a:p>
            <a:pPr algn="ctr"/>
            <a:fld id="{260E2A6B-A809-4840-BF14-8648BC0BDF87}" type="slidenum">
              <a:rPr lang="id-ID" sz="2000" b="0" i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 charset="0"/>
              </a:rPr>
              <a:pPr algn="ctr"/>
              <a:t>‹nº›</a:t>
            </a:fld>
            <a:r>
              <a:rPr lang="id-ID" sz="2000" b="1" i="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631059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  <p:sldLayoutId id="2147483984" r:id="rId8"/>
    <p:sldLayoutId id="2147483985" r:id="rId9"/>
    <p:sldLayoutId id="2147483986" r:id="rId10"/>
    <p:sldLayoutId id="2147483987" r:id="rId11"/>
    <p:sldLayoutId id="2147483988" r:id="rId12"/>
    <p:sldLayoutId id="2147483989" r:id="rId13"/>
    <p:sldLayoutId id="2147483990" r:id="rId14"/>
    <p:sldLayoutId id="2147483991" r:id="rId15"/>
    <p:sldLayoutId id="2147483997" r:id="rId16"/>
    <p:sldLayoutId id="2147483992" r:id="rId17"/>
    <p:sldLayoutId id="2147483993" r:id="rId18"/>
    <p:sldLayoutId id="2147483994" r:id="rId19"/>
    <p:sldLayoutId id="2147483995" r:id="rId20"/>
    <p:sldLayoutId id="2147483996" r:id="rId21"/>
  </p:sldLayoutIdLst>
  <p:hf hdr="0" ftr="0" dt="0"/>
  <p:txStyles>
    <p:titleStyle>
      <a:lvl1pPr algn="l" defTabSz="1828343" rtl="0" eaLnBrk="1" latinLnBrk="0" hangingPunct="1">
        <a:lnSpc>
          <a:spcPct val="90000"/>
        </a:lnSpc>
        <a:spcBef>
          <a:spcPct val="0"/>
        </a:spcBef>
        <a:buNone/>
        <a:defRPr sz="87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828343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None/>
        <a:defRPr sz="5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9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5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5027943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942114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856286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7704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6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70857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5028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920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33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55310" y="1005840"/>
            <a:ext cx="1280160" cy="1280160"/>
          </a:xfrm>
          <a:prstGeom prst="ellipse">
            <a:avLst/>
          </a:prstGeom>
          <a:noFill/>
          <a:ln w="381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63640" y="1364285"/>
            <a:ext cx="63500" cy="3584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 rot="19200000">
            <a:off x="5864962" y="1415492"/>
            <a:ext cx="230428" cy="11521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 rot="2400000">
            <a:off x="6120993" y="1415492"/>
            <a:ext cx="230428" cy="11521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92978" y="1773935"/>
            <a:ext cx="204825" cy="140817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Poppins"/>
              </a:rPr>
              <a:t>GRAN</a:t>
            </a:r>
            <a:r>
              <a:rPr sz="7200" b="1">
                <a:solidFill>
                  <a:srgbClr val="00C853"/>
                </a:solidFill>
                <a:latin typeface="Poppins"/>
              </a:rPr>
              <a:t>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9418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600" b="0">
                <a:solidFill>
                  <a:srgbClr val="B0B0B0"/>
                </a:solidFill>
                <a:latin typeface="Inter"/>
              </a:defRPr>
            </a:pPr>
            <a:r>
              <a:t>Onde criancas aprendem a fazer grana crescer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4480560"/>
            <a:ext cx="2103120" cy="254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B0B0B0"/>
                </a:solidFill>
                <a:latin typeface="Inter"/>
              </a:defRPr>
            </a:pPr>
            <a:r>
              <a:t>Pitch para Parceria Estrategica |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94960"/>
            <a:ext cx="9418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66666"/>
                </a:solidFill>
                <a:latin typeface="Inter"/>
              </a:defRPr>
            </a:pPr>
            <a:r>
              <a:t>O futuro comeca com um grao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12648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0">
                <a:solidFill>
                  <a:srgbClr val="B0B0B0"/>
                </a:solidFill>
                <a:latin typeface="Inter"/>
              </a:defRPr>
            </a:pPr>
            <a:r>
              <a:t>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t>O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15544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6200" cy="1554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828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00C853"/>
                </a:solidFill>
                <a:latin typeface="Poppins"/>
              </a:defRPr>
            </a:pPr>
            <a:r>
              <a:t>85%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600200"/>
            <a:ext cx="26517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dos pais querem ensinar</a:t>
            </a:r>
            <a:br/>
            <a:r>
              <a:t>educacao financeira aos filhos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029200" cy="15544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76200" cy="15544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1828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FF6D00"/>
                </a:solidFill>
                <a:latin typeface="Poppins"/>
              </a:defRPr>
            </a:pPr>
            <a:r>
              <a:t>42%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600200"/>
            <a:ext cx="26517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dos adolescentes ainda usam</a:t>
            </a:r>
            <a:br/>
            <a:r>
              <a:t>cofrinho fisico para poupar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5029200" cy="15544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291840"/>
            <a:ext cx="76200" cy="15544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474720"/>
            <a:ext cx="19202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2196F3"/>
                </a:solidFill>
                <a:latin typeface="Poppins"/>
              </a:defRPr>
            </a:pPr>
            <a:r>
              <a:t>37,9M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520440"/>
            <a:ext cx="26517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criancas e adolescentes</a:t>
            </a:r>
            <a:br/>
            <a:r>
              <a:t>no Brasil (5-17 anos)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91840"/>
            <a:ext cx="5029200" cy="15544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291840"/>
            <a:ext cx="76200" cy="155448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474720"/>
            <a:ext cx="1828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E91E63"/>
                </a:solidFill>
                <a:latin typeface="Poppins"/>
              </a:defRPr>
            </a:pPr>
            <a:r>
              <a:t>93%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520440"/>
            <a:ext cx="26517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delas ja usam internet</a:t>
            </a:r>
            <a:br/>
            <a:r>
              <a:t>mas nenhum app resolve o problema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88057"/>
            <a:ext cx="10698480" cy="91440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5232047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B0B0B0"/>
                </a:solidFill>
                <a:latin typeface="Inter"/>
              </a:defRPr>
            </a:pPr>
            <a:r>
              <a:rPr dirty="0"/>
              <a:t>"</a:t>
            </a:r>
            <a:r>
              <a:rPr dirty="0" err="1"/>
              <a:t>Existe</a:t>
            </a:r>
            <a:r>
              <a:rPr dirty="0"/>
              <a:t> um gap </a:t>
            </a:r>
            <a:r>
              <a:rPr dirty="0" err="1"/>
              <a:t>enorme</a:t>
            </a:r>
            <a:r>
              <a:rPr dirty="0"/>
              <a:t> entre a </a:t>
            </a:r>
            <a:r>
              <a:rPr dirty="0" err="1"/>
              <a:t>consciencia</a:t>
            </a:r>
            <a:r>
              <a:rPr dirty="0"/>
              <a:t> dos </a:t>
            </a:r>
            <a:r>
              <a:rPr dirty="0" err="1"/>
              <a:t>pais</a:t>
            </a:r>
            <a:r>
              <a:rPr dirty="0"/>
              <a:t> e as ferramentas </a:t>
            </a:r>
            <a:r>
              <a:rPr dirty="0" err="1"/>
              <a:t>disponiveis</a:t>
            </a:r>
            <a:r>
              <a:rPr dirty="0"/>
              <a:t>.</a:t>
            </a:r>
            <a:br>
              <a:rPr dirty="0"/>
            </a:br>
            <a:r>
              <a:rPr dirty="0"/>
              <a:t>Nos EUA,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empresa</a:t>
            </a:r>
            <a:r>
              <a:rPr dirty="0"/>
              <a:t> </a:t>
            </a:r>
            <a:r>
              <a:rPr dirty="0" err="1"/>
              <a:t>resolveu</a:t>
            </a:r>
            <a:r>
              <a:rPr dirty="0"/>
              <a:t> </a:t>
            </a:r>
            <a:r>
              <a:rPr dirty="0" err="1"/>
              <a:t>isso</a:t>
            </a:r>
            <a:r>
              <a:rPr dirty="0"/>
              <a:t> e vale US$ 3,2 </a:t>
            </a:r>
            <a:r>
              <a:rPr dirty="0" err="1"/>
              <a:t>bilhoes</a:t>
            </a:r>
            <a:r>
              <a:rPr dirty="0"/>
              <a:t>. No </a:t>
            </a:r>
            <a:r>
              <a:rPr dirty="0" err="1"/>
              <a:t>Brasil</a:t>
            </a:r>
            <a:r>
              <a:rPr dirty="0"/>
              <a:t>, </a:t>
            </a:r>
            <a:r>
              <a:rPr dirty="0" err="1"/>
              <a:t>ninguem</a:t>
            </a:r>
            <a:r>
              <a:rPr dirty="0"/>
              <a:t> </a:t>
            </a:r>
            <a:r>
              <a:rPr dirty="0" err="1"/>
              <a:t>resolveu</a:t>
            </a:r>
            <a:r>
              <a:rPr dirty="0"/>
              <a:t> </a:t>
            </a:r>
            <a:r>
              <a:rPr dirty="0" err="1"/>
              <a:t>ainda</a:t>
            </a:r>
            <a:r>
              <a:rPr dirty="0"/>
              <a:t>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t>O Modelo que Funciona: Greenlight (EUA)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79405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B0B0B0"/>
                </a:solidFill>
                <a:latin typeface="Inter"/>
              </a:defRPr>
            </a:pPr>
            <a:r>
              <a:t>Fundada em 2014 | Atlanta, 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3716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146304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3291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>
                <a:solidFill>
                  <a:srgbClr val="00C853"/>
                </a:solidFill>
                <a:latin typeface="Poppins"/>
              </a:defRPr>
            </a:pPr>
            <a:r>
              <a:t>6,5M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3017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familias ativas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291840" cy="146304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52748" y="1691640"/>
            <a:ext cx="3473143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>
                <a:solidFill>
                  <a:srgbClr val="00C853"/>
                </a:solidFill>
                <a:latin typeface="Poppins"/>
              </a:defRPr>
            </a:pPr>
            <a:r>
              <a:rPr sz="3800" dirty="0"/>
              <a:t>US$ 228,5M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286000"/>
            <a:ext cx="3017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rPr dirty="0" err="1"/>
              <a:t>receita</a:t>
            </a:r>
            <a:r>
              <a:rPr dirty="0"/>
              <a:t> </a:t>
            </a:r>
            <a:r>
              <a:rPr dirty="0" err="1"/>
              <a:t>anual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7955280" y="1554480"/>
            <a:ext cx="3291840" cy="146304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0" y="1691640"/>
            <a:ext cx="3291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>
                <a:solidFill>
                  <a:srgbClr val="00C853"/>
                </a:solidFill>
                <a:latin typeface="Poppins"/>
              </a:defRPr>
            </a:pPr>
            <a:r>
              <a:t>US$ 3,2B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017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valuation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3291840" cy="146304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3291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>
                <a:solidFill>
                  <a:srgbClr val="00C853"/>
                </a:solidFill>
                <a:latin typeface="Poppins"/>
              </a:defRPr>
            </a:pPr>
            <a:r>
              <a:t>US$ 556M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3017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funding total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291840"/>
            <a:ext cx="3291840" cy="146304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400" y="3429000"/>
            <a:ext cx="3291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>
                <a:solidFill>
                  <a:srgbClr val="00C853"/>
                </a:solidFill>
                <a:latin typeface="Poppins"/>
              </a:defRPr>
            </a:pPr>
            <a:r>
              <a:t>150+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069080"/>
            <a:ext cx="3017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bancos parceiros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3291840"/>
            <a:ext cx="3291840" cy="146304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0" y="3429000"/>
            <a:ext cx="3291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>
                <a:solidFill>
                  <a:srgbClr val="00C853"/>
                </a:solidFill>
                <a:latin typeface="Poppins"/>
              </a:defRPr>
            </a:pPr>
            <a:r>
              <a:t>US$ 2B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069080"/>
            <a:ext cx="3017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transacoes/ano</a:t>
            </a:r>
            <a:br/>
            <a:r>
              <a:t>por criancas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B0B0B0"/>
                </a:solidFill>
                <a:latin typeface="Inter"/>
              </a:defRPr>
            </a:pPr>
            <a:r>
              <a:t>Investidores: Andreessen Horowitz, JPMorgan Chase, Wells Fargo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dirty="0"/>
              <a:t>Por </a:t>
            </a:r>
            <a:r>
              <a:rPr dirty="0" err="1"/>
              <a:t>que</a:t>
            </a:r>
            <a:r>
              <a:rPr dirty="0"/>
              <a:t> Greenlight </a:t>
            </a:r>
            <a:r>
              <a:rPr dirty="0" err="1"/>
              <a:t>Funciona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3200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00C853"/>
                </a:solidFill>
                <a:latin typeface="Poppins"/>
              </a:defRPr>
            </a:pPr>
            <a:r>
              <a:t>Assinatura Familiar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3194"/>
            <a:ext cx="292608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rPr sz="2000" dirty="0"/>
              <a:t>US$ 5,99-15,98/</a:t>
            </a:r>
            <a:r>
              <a:rPr sz="2000" dirty="0" err="1"/>
              <a:t>mes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familia.</a:t>
            </a:r>
            <a:br>
              <a:rPr sz="2000" dirty="0"/>
            </a:br>
            <a:br>
              <a:rPr sz="2000" dirty="0"/>
            </a:br>
            <a:r>
              <a:rPr sz="2000" dirty="0" err="1"/>
              <a:t>Incentivo</a:t>
            </a:r>
            <a:r>
              <a:rPr sz="2000" dirty="0"/>
              <a:t> </a:t>
            </a:r>
            <a:r>
              <a:rPr sz="2000" dirty="0" err="1"/>
              <a:t>alinhado</a:t>
            </a:r>
            <a:r>
              <a:rPr sz="2000" dirty="0"/>
              <a:t>: </a:t>
            </a:r>
            <a:r>
              <a:rPr sz="2000" dirty="0" err="1"/>
              <a:t>empresa</a:t>
            </a:r>
            <a:r>
              <a:rPr sz="2000" dirty="0"/>
              <a:t> </a:t>
            </a:r>
            <a:r>
              <a:rPr sz="2000" dirty="0" err="1"/>
              <a:t>ganha</a:t>
            </a:r>
            <a:r>
              <a:rPr sz="2000" dirty="0"/>
              <a:t> </a:t>
            </a:r>
            <a:r>
              <a:rPr sz="2000" dirty="0" err="1"/>
              <a:t>quando</a:t>
            </a:r>
            <a:r>
              <a:rPr sz="2000" dirty="0"/>
              <a:t> familia </a:t>
            </a:r>
            <a:r>
              <a:rPr sz="2000" dirty="0" err="1"/>
              <a:t>aprende</a:t>
            </a:r>
            <a:r>
              <a:rPr sz="2000" dirty="0"/>
              <a:t>, nao </a:t>
            </a:r>
            <a:r>
              <a:rPr sz="2000" dirty="0" err="1"/>
              <a:t>quando</a:t>
            </a:r>
            <a:r>
              <a:rPr sz="2000" dirty="0"/>
              <a:t> </a:t>
            </a:r>
            <a:r>
              <a:rPr sz="2000" dirty="0" err="1"/>
              <a:t>crianca</a:t>
            </a:r>
            <a:r>
              <a:rPr sz="2000" dirty="0"/>
              <a:t> </a:t>
            </a:r>
            <a:r>
              <a:rPr sz="2000" dirty="0" err="1"/>
              <a:t>gasta</a:t>
            </a:r>
            <a:r>
              <a:rPr sz="2000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291840" cy="3200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50876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00C853"/>
                </a:solidFill>
                <a:latin typeface="Poppins"/>
              </a:defRPr>
            </a:pPr>
            <a:r>
              <a:t>Greenlight for Banks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53194"/>
            <a:ext cx="292608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rPr sz="2000" dirty="0"/>
              <a:t>150+ </a:t>
            </a:r>
            <a:r>
              <a:rPr sz="2000" dirty="0" err="1"/>
              <a:t>bancos</a:t>
            </a:r>
            <a:r>
              <a:rPr sz="2000" dirty="0"/>
              <a:t> </a:t>
            </a:r>
            <a:r>
              <a:rPr sz="2000" dirty="0" err="1"/>
              <a:t>parceiros</a:t>
            </a:r>
            <a:r>
              <a:rPr sz="2000" dirty="0"/>
              <a:t> </a:t>
            </a:r>
            <a:r>
              <a:rPr sz="2000" dirty="0" err="1"/>
              <a:t>incluindo</a:t>
            </a:r>
            <a:r>
              <a:rPr sz="2000" dirty="0"/>
              <a:t> JPMorgan e Wells Fargo.</a:t>
            </a:r>
            <a:br>
              <a:rPr sz="2000" dirty="0"/>
            </a:br>
            <a:br>
              <a:rPr sz="2000" dirty="0"/>
            </a:br>
            <a:r>
              <a:rPr sz="2000" dirty="0"/>
              <a:t>Bancos </a:t>
            </a:r>
            <a:r>
              <a:rPr sz="2000" dirty="0" err="1"/>
              <a:t>investem</a:t>
            </a:r>
            <a:r>
              <a:rPr sz="2000" dirty="0"/>
              <a:t> </a:t>
            </a:r>
            <a:r>
              <a:rPr sz="2000" dirty="0" err="1"/>
              <a:t>hoje</a:t>
            </a:r>
            <a:r>
              <a:rPr sz="2000" dirty="0"/>
              <a:t> para ter </a:t>
            </a:r>
            <a:r>
              <a:rPr sz="2000" dirty="0" err="1"/>
              <a:t>clientes</a:t>
            </a:r>
            <a:r>
              <a:rPr sz="2000" dirty="0"/>
              <a:t> </a:t>
            </a:r>
            <a:r>
              <a:rPr sz="2000" dirty="0" err="1"/>
              <a:t>adultos</a:t>
            </a:r>
            <a:r>
              <a:rPr sz="2000" dirty="0"/>
              <a:t> </a:t>
            </a:r>
            <a:r>
              <a:rPr sz="2000" dirty="0" err="1"/>
              <a:t>amanha</a:t>
            </a:r>
            <a:r>
              <a:rPr sz="2000"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291840" cy="3200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50876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00C853"/>
                </a:solidFill>
                <a:latin typeface="Poppins"/>
              </a:defRPr>
            </a:pPr>
            <a:r>
              <a:t>CAC Intergeracional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84726"/>
            <a:ext cx="292608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rPr sz="2000"/>
              <a:t>Bancos gastam US$ 200-400 por cliente adulto.</a:t>
            </a:r>
            <a:br>
              <a:rPr sz="2000"/>
            </a:br>
            <a:br>
              <a:rPr sz="2000"/>
            </a:br>
            <a:r>
              <a:rPr sz="2000"/>
              <a:t>Via Greenlight, crianca de 10 anos vira cliente aos 18 a custo zero.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t>O Mercado Brasileiro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743200" cy="2011680"/>
          </a:xfrm>
          <a:prstGeom prst="roundRect">
            <a:avLst/>
          </a:prstGeom>
          <a:solidFill>
            <a:srgbClr val="1A237E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2468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0C853"/>
                </a:solidFill>
                <a:latin typeface="Poppins"/>
              </a:defRPr>
            </a:pPr>
            <a: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4688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rPr sz="1800"/>
              <a:t>25,9M familias</a:t>
            </a:r>
            <a:br>
              <a:rPr sz="1800"/>
            </a:br>
            <a:r>
              <a:rPr sz="1800"/>
              <a:t>com filhos &lt;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40" y="1371600"/>
            <a:ext cx="2286000" cy="2011680"/>
          </a:xfrm>
          <a:prstGeom prst="roundRect">
            <a:avLst/>
          </a:prstGeom>
          <a:solidFill>
            <a:srgbClr val="283090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86200" y="1508760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0C853"/>
                </a:solidFill>
                <a:latin typeface="Poppins"/>
              </a:defRPr>
            </a:pPr>
            <a:r>
              <a:t>SAM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011680"/>
            <a:ext cx="20116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rPr sz="1800"/>
              <a:t>6,7M familias</a:t>
            </a:r>
            <a:br>
              <a:rPr sz="1800"/>
            </a:br>
            <a:r>
              <a:rPr sz="1800"/>
              <a:t>classes A/B/C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2098916" cy="2011680"/>
          </a:xfrm>
          <a:prstGeom prst="roundRect">
            <a:avLst/>
          </a:prstGeom>
          <a:solidFill>
            <a:srgbClr val="006028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181461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0C853"/>
                </a:solidFill>
                <a:latin typeface="Poppins"/>
              </a:defRPr>
            </a:pPr>
            <a:r>
              <a:t>SOM (3 anos)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19" y="2053720"/>
            <a:ext cx="1814611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rPr sz="1800" dirty="0"/>
              <a:t>500.000 </a:t>
            </a:r>
            <a:r>
              <a:rPr sz="1800" dirty="0" err="1"/>
              <a:t>familias</a:t>
            </a:r>
            <a:br>
              <a:rPr sz="1800" dirty="0"/>
            </a:br>
            <a:r>
              <a:rPr sz="1800" dirty="0"/>
              <a:t>(7,5% do SAM)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Poppins"/>
              </a:rPr>
              <a:t>  &gt;  </a:t>
            </a:r>
            <a:r>
              <a:rPr sz="1400" b="0">
                <a:solidFill>
                  <a:srgbClr val="FFFFFF"/>
                </a:solidFill>
                <a:latin typeface="Inter"/>
              </a:rPr>
              <a:t>PIX como infraestrutura nativa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69079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Poppins"/>
              </a:rPr>
              <a:t>  &gt;  </a:t>
            </a:r>
            <a:r>
              <a:rPr sz="1400" b="0">
                <a:solidFill>
                  <a:srgbClr val="FFFFFF"/>
                </a:solidFill>
                <a:latin typeface="Inter"/>
              </a:rPr>
              <a:t>90%+ transacoes ja sao mobile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19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Poppins"/>
              </a:rPr>
              <a:t>  &gt;  </a:t>
            </a:r>
            <a:r>
              <a:rPr sz="1400" b="0">
                <a:solidFill>
                  <a:srgbClr val="FFFFFF"/>
                </a:solidFill>
                <a:latin typeface="Inter"/>
              </a:rPr>
              <a:t>Educacao financeira obrigatoria nas escolas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09159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Poppins"/>
              </a:rPr>
              <a:t>  &gt;  </a:t>
            </a:r>
            <a:r>
              <a:rPr sz="1400" b="0">
                <a:solidFill>
                  <a:srgbClr val="FFFFFF"/>
                </a:solidFill>
                <a:latin typeface="Inter"/>
              </a:rPr>
              <a:t>80% dos teens ja tem conta digital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199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Poppins"/>
              </a:rPr>
              <a:t>  &gt;  </a:t>
            </a:r>
            <a:r>
              <a:rPr sz="1400" b="0">
                <a:solidFill>
                  <a:srgbClr val="FFFFFF"/>
                </a:solidFill>
                <a:latin typeface="Inter"/>
              </a:rPr>
              <a:t>Nenhum player consolidou a lideranca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t>Panorama Competitivo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235200" cy="424688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2320" y="1397000"/>
            <a:ext cx="213360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Poppins"/>
              </a:defRPr>
            </a:pPr>
            <a:r>
              <a:t>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371600"/>
            <a:ext cx="1229360" cy="424688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68320" y="1397000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Poppins"/>
              </a:defRPr>
            </a:pPr>
            <a:r>
              <a:t>Cartao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1229360" cy="424688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8480" y="1397000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Poppins"/>
              </a:defRPr>
            </a:pPr>
            <a:r>
              <a:t>Tarefas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371600"/>
            <a:ext cx="1229360" cy="424688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28640" y="1397000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Poppins"/>
              </a:defRPr>
            </a:pPr>
            <a:r>
              <a:t>Educacao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371600"/>
            <a:ext cx="1229360" cy="424688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8800" y="1397000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Poppins"/>
              </a:defRPr>
            </a:pPr>
            <a:r>
              <a:t>Investir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1412240" cy="424688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8960" y="1397000"/>
            <a:ext cx="131064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Poppins"/>
              </a:defRPr>
            </a:pPr>
            <a:r>
              <a:t>4 Baldes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847088"/>
            <a:ext cx="2235200" cy="42468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2320" y="1872488"/>
            <a:ext cx="213360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Nubank Familia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1847088"/>
            <a:ext cx="1229360" cy="42468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68320" y="1872488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00C853"/>
                </a:solidFill>
                <a:latin typeface="Inter"/>
              </a:defRPr>
            </a:pPr>
            <a:r>
              <a:t>Sim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1847088"/>
            <a:ext cx="1229360" cy="42468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8480" y="1872488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Nao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0" y="1847088"/>
            <a:ext cx="1229360" cy="42468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28640" y="1872488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Nao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1847088"/>
            <a:ext cx="1229360" cy="42468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8800" y="1872488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Nao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1847088"/>
            <a:ext cx="1412240" cy="42468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88960" y="1872488"/>
            <a:ext cx="131064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NAO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2322576"/>
            <a:ext cx="2235200" cy="424688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2320" y="2347976"/>
            <a:ext cx="213360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C6 Yellow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17520" y="2322576"/>
            <a:ext cx="1229360" cy="424688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68320" y="2347976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00C853"/>
                </a:solidFill>
                <a:latin typeface="Inter"/>
              </a:defRPr>
            </a:pPr>
            <a:r>
              <a:t>Sim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2322576"/>
            <a:ext cx="1229360" cy="424688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48480" y="2347976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Nao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77840" y="2322576"/>
            <a:ext cx="1229360" cy="424688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28640" y="2347976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Nao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2322576"/>
            <a:ext cx="1229360" cy="424688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08800" y="2347976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00C853"/>
                </a:solidFill>
                <a:latin typeface="Inter"/>
              </a:defRPr>
            </a:pPr>
            <a:r>
              <a:t>Sim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2322576"/>
            <a:ext cx="1412240" cy="424688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88960" y="2347976"/>
            <a:ext cx="131064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NAO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2798064"/>
            <a:ext cx="2235200" cy="42468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82320" y="2823464"/>
            <a:ext cx="213360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NextJoy (Bradesco)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17520" y="2798064"/>
            <a:ext cx="1229360" cy="42468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068320" y="2823464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00C853"/>
                </a:solidFill>
                <a:latin typeface="Inter"/>
              </a:defRPr>
            </a:pPr>
            <a:r>
              <a:t>Sim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0" y="2798064"/>
            <a:ext cx="1229360" cy="42468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48480" y="2823464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00C853"/>
                </a:solidFill>
                <a:latin typeface="Inter"/>
              </a:defRPr>
            </a:pPr>
            <a:r>
              <a:t>Sim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77840" y="2798064"/>
            <a:ext cx="1229360" cy="42468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628640" y="2823464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Basico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0" y="2798064"/>
            <a:ext cx="1229360" cy="42468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908800" y="2823464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Nao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38160" y="2798064"/>
            <a:ext cx="1412240" cy="42468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188960" y="2823464"/>
            <a:ext cx="131064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NAO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3273552"/>
            <a:ext cx="2235200" cy="424688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82320" y="3298952"/>
            <a:ext cx="213360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Inter Kids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017520" y="3273552"/>
            <a:ext cx="1229360" cy="424688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068320" y="3298952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00C853"/>
                </a:solidFill>
                <a:latin typeface="Inter"/>
              </a:defRPr>
            </a:pPr>
            <a:r>
              <a:t>Sim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97680" y="3273552"/>
            <a:ext cx="1229360" cy="424688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348480" y="3298952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Nao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577840" y="3273552"/>
            <a:ext cx="1229360" cy="424688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628640" y="3298952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Nao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58000" y="3273552"/>
            <a:ext cx="1229360" cy="424688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908800" y="3298952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00C853"/>
                </a:solidFill>
                <a:latin typeface="Inter"/>
              </a:defRPr>
            </a:pPr>
            <a:r>
              <a:t>Sim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38160" y="3273552"/>
            <a:ext cx="1412240" cy="424688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188960" y="3298952"/>
            <a:ext cx="131064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NAO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1520" y="3749040"/>
            <a:ext cx="2235200" cy="42468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82320" y="3774440"/>
            <a:ext cx="213360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Mozper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017520" y="3749040"/>
            <a:ext cx="1229360" cy="42468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068320" y="3774440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00C853"/>
                </a:solidFill>
                <a:latin typeface="Inter"/>
              </a:defRPr>
            </a:pPr>
            <a:r>
              <a:t>Sim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297680" y="3749040"/>
            <a:ext cx="1229360" cy="42468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348480" y="3774440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00C853"/>
                </a:solidFill>
                <a:latin typeface="Inter"/>
              </a:defRPr>
            </a:pPr>
            <a:r>
              <a:t>Sim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577840" y="3749040"/>
            <a:ext cx="1229360" cy="42468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628640" y="3774440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Nao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58000" y="3749040"/>
            <a:ext cx="1229360" cy="42468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908800" y="3774440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Nao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138160" y="3749040"/>
            <a:ext cx="1412240" cy="424688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188960" y="3774440"/>
            <a:ext cx="131064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NAO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0" y="4224528"/>
            <a:ext cx="2235200" cy="424688"/>
          </a:xfrm>
          <a:prstGeom prst="roundRect">
            <a:avLst/>
          </a:prstGeom>
          <a:solidFill>
            <a:srgbClr val="00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82320" y="4249928"/>
            <a:ext cx="213360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GRANIX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017520" y="4224528"/>
            <a:ext cx="1229360" cy="424688"/>
          </a:xfrm>
          <a:prstGeom prst="roundRect">
            <a:avLst/>
          </a:prstGeom>
          <a:solidFill>
            <a:srgbClr val="00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068320" y="4249928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Inter"/>
              </a:defRPr>
            </a:pPr>
            <a:r>
              <a:t>Sim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297680" y="4224528"/>
            <a:ext cx="1229360" cy="424688"/>
          </a:xfrm>
          <a:prstGeom prst="roundRect">
            <a:avLst/>
          </a:prstGeom>
          <a:solidFill>
            <a:srgbClr val="00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348480" y="4249928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Inter"/>
              </a:defRPr>
            </a:pPr>
            <a:r>
              <a:t>Sim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577840" y="4224528"/>
            <a:ext cx="1229360" cy="424688"/>
          </a:xfrm>
          <a:prstGeom prst="roundRect">
            <a:avLst/>
          </a:prstGeom>
          <a:solidFill>
            <a:srgbClr val="00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628640" y="4249928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Inter"/>
              </a:defRPr>
            </a:pPr>
            <a:r>
              <a:t>Sim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858000" y="4224528"/>
            <a:ext cx="1229360" cy="424688"/>
          </a:xfrm>
          <a:prstGeom prst="roundRect">
            <a:avLst/>
          </a:prstGeom>
          <a:solidFill>
            <a:srgbClr val="00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908800" y="4249928"/>
            <a:ext cx="11277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Inter"/>
              </a:defRPr>
            </a:pPr>
            <a:r>
              <a:t>Sim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138160" y="4224528"/>
            <a:ext cx="1412240" cy="424688"/>
          </a:xfrm>
          <a:prstGeom prst="roundRect">
            <a:avLst/>
          </a:prstGeom>
          <a:solidFill>
            <a:srgbClr val="00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188960" y="4249928"/>
            <a:ext cx="131064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Inter"/>
              </a:defRPr>
            </a:pPr>
            <a:r>
              <a:t>SIM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00C853"/>
                </a:solidFill>
                <a:latin typeface="Inter"/>
              </a:defRPr>
            </a:pPr>
            <a:r>
              <a:t>Nenhum concorrente combina: cartao + tarefas + educacao + investimentos + 4 Baldes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t>GRANIX: O Greenlight Brasileiro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00C853"/>
                </a:solidFill>
                <a:latin typeface="Poppins"/>
              </a:defRPr>
            </a:pPr>
            <a:r>
              <a:t>GRANA + IX = GRANIX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B0B0B0"/>
                </a:solidFill>
                <a:latin typeface="Inter"/>
              </a:defRPr>
            </a:pPr>
            <a:r>
              <a:t>Plataforma de educacao financeira para familias brasileiras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2468880" cy="2286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246888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103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2196F3"/>
                </a:solidFill>
                <a:latin typeface="Poppins"/>
              </a:defRPr>
            </a:pPr>
            <a:r>
              <a:t>Cartao de Debito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21031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t>Controle total dos pais, notificacoes em tempo real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560320"/>
            <a:ext cx="2468880" cy="2286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2560320"/>
            <a:ext cx="2468880" cy="508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3320" y="2834640"/>
            <a:ext cx="2103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0C853"/>
                </a:solidFill>
                <a:latin typeface="Poppins"/>
              </a:defRPr>
            </a:pPr>
            <a:r>
              <a:t>4 Baldes Inteligentes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474720"/>
            <a:ext cx="21031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t>Gastar, Guardar, Doar, Investir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560320"/>
            <a:ext cx="2468880" cy="2286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2560320"/>
            <a:ext cx="246888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40"/>
            <a:ext cx="2103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6D00"/>
                </a:solidFill>
                <a:latin typeface="Poppins"/>
              </a:defRPr>
            </a:pPr>
            <a:r>
              <a:t>Tarefas &amp; Recompensas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74720"/>
            <a:ext cx="21031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t>Criancas ganham mesada completando tarefas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560320"/>
            <a:ext cx="2468880" cy="2286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280" y="2560320"/>
            <a:ext cx="2468880" cy="508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1160" y="2834640"/>
            <a:ext cx="2103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E91E63"/>
                </a:solidFill>
                <a:latin typeface="Poppins"/>
              </a:defRPr>
            </a:pPr>
            <a:r>
              <a:t>GRANIX Academy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474720"/>
            <a:ext cx="21031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t>Educacao gamificada por faixa etaria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t>O Coracao do Produto: 4 Baldes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18357"/>
            <a:ext cx="2468880" cy="2743200"/>
          </a:xfrm>
          <a:prstGeom prst="roundRect">
            <a:avLst/>
          </a:prstGeom>
          <a:solidFill>
            <a:srgbClr val="2D2D44"/>
          </a:solidFill>
          <a:ln w="381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84490"/>
            <a:ext cx="2468880" cy="762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46957"/>
            <a:ext cx="2468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FF6D00"/>
                </a:solidFill>
                <a:latin typeface="Poppins"/>
              </a:defRPr>
            </a:pPr>
            <a:r>
              <a:t>GASTAR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9877"/>
            <a:ext cx="2468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000" b="1">
                <a:solidFill>
                  <a:srgbClr val="FFFFFF"/>
                </a:solidFill>
                <a:latin typeface="Poppins"/>
              </a:defRPr>
            </a:pPr>
            <a: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81397"/>
            <a:ext cx="21031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B0B0B0"/>
                </a:solidFill>
                <a:latin typeface="Inter"/>
              </a:defRPr>
            </a:pPr>
            <a:r>
              <a:t>Saldo disponivel</a:t>
            </a:r>
            <a:br/>
            <a:r>
              <a:t>no cartao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518357"/>
            <a:ext cx="2468880" cy="2743200"/>
          </a:xfrm>
          <a:prstGeom prst="roundRect">
            <a:avLst/>
          </a:prstGeom>
          <a:solidFill>
            <a:srgbClr val="2D2D44"/>
          </a:solidFill>
          <a:ln w="381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20440" y="1484490"/>
            <a:ext cx="2468880" cy="76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1746957"/>
            <a:ext cx="2468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2196F3"/>
                </a:solidFill>
                <a:latin typeface="Poppins"/>
              </a:defRPr>
            </a:pPr>
            <a:r>
              <a:t>GUARDAR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249877"/>
            <a:ext cx="2468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000" b="1">
                <a:solidFill>
                  <a:srgbClr val="FFFFFF"/>
                </a:solidFill>
                <a:latin typeface="Poppins"/>
              </a:defRPr>
            </a:pPr>
            <a: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981397"/>
            <a:ext cx="21031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B0B0B0"/>
                </a:solidFill>
                <a:latin typeface="Inter"/>
              </a:defRPr>
            </a:pPr>
            <a:r>
              <a:t>Metas de poupanca</a:t>
            </a:r>
            <a:br/>
            <a:r>
              <a:t>visuais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18357"/>
            <a:ext cx="2468880" cy="2743200"/>
          </a:xfrm>
          <a:prstGeom prst="roundRect">
            <a:avLst/>
          </a:prstGeom>
          <a:solidFill>
            <a:srgbClr val="2D2D44"/>
          </a:solidFill>
          <a:ln w="381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484490"/>
            <a:ext cx="2468880" cy="76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746957"/>
            <a:ext cx="2468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E91E63"/>
                </a:solidFill>
                <a:latin typeface="Poppins"/>
              </a:defRPr>
            </a:pPr>
            <a:r>
              <a:t>DOAR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49877"/>
            <a:ext cx="2468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000" b="1">
                <a:solidFill>
                  <a:srgbClr val="FFFFFF"/>
                </a:solidFill>
                <a:latin typeface="Poppins"/>
              </a:defRPr>
            </a:pPr>
            <a:r>
              <a:t>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81397"/>
            <a:ext cx="21031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B0B0B0"/>
                </a:solidFill>
                <a:latin typeface="Inter"/>
              </a:defRPr>
            </a:pPr>
            <a:r>
              <a:t>Reserva para</a:t>
            </a:r>
            <a:br/>
            <a:r>
              <a:t>doacoes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518357"/>
            <a:ext cx="2468880" cy="2743200"/>
          </a:xfrm>
          <a:prstGeom prst="roundRect">
            <a:avLst/>
          </a:prstGeom>
          <a:solidFill>
            <a:srgbClr val="2D2D44"/>
          </a:solidFill>
          <a:ln w="381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98280" y="1484490"/>
            <a:ext cx="2468880" cy="762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98280" y="1746957"/>
            <a:ext cx="2468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00C853"/>
                </a:solidFill>
                <a:latin typeface="Poppins"/>
              </a:defRPr>
            </a:pPr>
            <a:r>
              <a:t>INVESTIR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249877"/>
            <a:ext cx="24688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000" b="1">
                <a:solidFill>
                  <a:srgbClr val="FFFFFF"/>
                </a:solidFill>
                <a:latin typeface="Poppins"/>
              </a:defRPr>
            </a:pPr>
            <a: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981397"/>
            <a:ext cx="21031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B0B0B0"/>
                </a:solidFill>
                <a:latin typeface="Inter"/>
              </a:defRPr>
            </a:pPr>
            <a:r>
              <a:t>CDB, Tesouro Direto</a:t>
            </a:r>
            <a:br/>
            <a:r>
              <a:t>com aprovacao dos pais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39079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rPr sz="2000"/>
              <a:t>Cada mesada e automaticamente distribuida. Pais configuram os percentuais.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96279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00C853"/>
                </a:solidFill>
                <a:latin typeface="Inter"/>
              </a:defRPr>
            </a:pPr>
            <a:r>
              <a:rPr sz="2000" dirty="0" err="1"/>
              <a:t>Nenhum</a:t>
            </a:r>
            <a:r>
              <a:rPr sz="2000" dirty="0"/>
              <a:t> </a:t>
            </a:r>
            <a:r>
              <a:rPr sz="2000" dirty="0" err="1"/>
              <a:t>concorrente</a:t>
            </a:r>
            <a:r>
              <a:rPr sz="2000" dirty="0"/>
              <a:t> </a:t>
            </a:r>
            <a:r>
              <a:rPr sz="2000" dirty="0" err="1"/>
              <a:t>brasileiro</a:t>
            </a:r>
            <a:r>
              <a:rPr sz="2000" dirty="0"/>
              <a:t> </a:t>
            </a:r>
            <a:r>
              <a:rPr sz="2000" dirty="0" err="1"/>
              <a:t>tem</a:t>
            </a:r>
            <a:r>
              <a:rPr sz="2000" dirty="0"/>
              <a:t> </a:t>
            </a:r>
            <a:r>
              <a:rPr sz="2000" dirty="0" err="1"/>
              <a:t>este</a:t>
            </a:r>
            <a:r>
              <a:rPr sz="2000" dirty="0"/>
              <a:t> </a:t>
            </a:r>
            <a:r>
              <a:rPr sz="2000" dirty="0" err="1"/>
              <a:t>sistema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t>Modelo de Monetizacao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3200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00C853"/>
                </a:solidFill>
                <a:latin typeface="Poppins"/>
              </a:defRPr>
            </a:pPr>
            <a:r>
              <a:t>GRATIS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FFFFFF"/>
                </a:solidFill>
                <a:latin typeface="Poppins"/>
              </a:defRPr>
            </a:pPr>
            <a:r>
              <a:t>R$ 0/mes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7432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B0B0B0"/>
                </a:solidFill>
                <a:latin typeface="Inter"/>
              </a:defRPr>
            </a:pPr>
            <a:r>
              <a:t>1 filho, cartao virtual,</a:t>
            </a:r>
            <a:br/>
            <a:r>
              <a:t>5 tarefas/mes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291840" cy="3200400"/>
          </a:xfrm>
          <a:prstGeom prst="roundRect">
            <a:avLst/>
          </a:prstGeom>
          <a:solidFill>
            <a:srgbClr val="2D2D44"/>
          </a:solidFill>
          <a:ln w="381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63640" y="1188720"/>
            <a:ext cx="1371600" cy="32004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207008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FFFFFF"/>
                </a:solidFill>
                <a:latin typeface="Poppins"/>
              </a:defRPr>
            </a:pPr>
            <a:r>
              <a:t>POPULAR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64592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00C853"/>
                </a:solidFill>
                <a:latin typeface="Poppins"/>
              </a:defRPr>
            </a:pPr>
            <a:r>
              <a:t>FAMILIA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103120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FFFFFF"/>
                </a:solidFill>
                <a:latin typeface="Poppins"/>
              </a:defRPr>
            </a:pPr>
            <a:r>
              <a:t>R$ 29/mes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43200"/>
            <a:ext cx="27432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B0B0B0"/>
                </a:solidFill>
                <a:latin typeface="Inter"/>
              </a:defRPr>
            </a:pPr>
            <a:r>
              <a:t>4 filhos, cartao fisico,</a:t>
            </a:r>
            <a:br/>
            <a:r>
              <a:t>tarefas ilimitadas,</a:t>
            </a:r>
            <a:br/>
            <a:r>
              <a:t>Academy basico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371600"/>
            <a:ext cx="3291840" cy="3200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0" y="164592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00C853"/>
                </a:solidFill>
                <a:latin typeface="Poppins"/>
              </a:defRPr>
            </a:pPr>
            <a:r>
              <a:t>FAMILIA+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103120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>
                <a:solidFill>
                  <a:srgbClr val="FFFFFF"/>
                </a:solidFill>
                <a:latin typeface="Poppins"/>
              </a:defRPr>
            </a:pPr>
            <a:r>
              <a:t>R$ 49/mes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743200"/>
            <a:ext cx="27432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B0B0B0"/>
                </a:solidFill>
                <a:latin typeface="Inter"/>
              </a:defRPr>
            </a:pPr>
            <a:r>
              <a:t>6 filhos, todas as trilhas,</a:t>
            </a:r>
            <a:br/>
            <a:r>
              <a:t>investimentos, cashback 1%,</a:t>
            </a:r>
            <a:br/>
            <a:r>
              <a:t>relatorios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8072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00C853"/>
                </a:solidFill>
                <a:latin typeface="Inter"/>
              </a:defRPr>
            </a:pPr>
            <a:r>
              <a:rPr sz="2000" dirty="0" err="1"/>
              <a:t>Assinaturas</a:t>
            </a:r>
            <a:r>
              <a:rPr sz="2000" dirty="0"/>
              <a:t> 60%  |  Interchange 25%  |  Float 10%  |  Investimentos 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t>GRANIX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755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B0B0B0"/>
                </a:solidFill>
                <a:latin typeface="Inter"/>
              </a:defRPr>
            </a:pPr>
            <a:r>
              <a:rPr dirty="0" err="1"/>
              <a:t>Educacao</a:t>
            </a:r>
            <a:r>
              <a:rPr dirty="0"/>
              <a:t> </a:t>
            </a:r>
            <a:r>
              <a:rPr dirty="0" err="1"/>
              <a:t>financeira</a:t>
            </a:r>
            <a:r>
              <a:rPr dirty="0"/>
              <a:t> </a:t>
            </a:r>
            <a:r>
              <a:rPr dirty="0" err="1"/>
              <a:t>gamificada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idade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3716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5104"/>
            <a:ext cx="2468880" cy="2286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5104"/>
            <a:ext cx="2468880" cy="508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09424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66BB6A"/>
                </a:solidFill>
                <a:latin typeface="Poppins"/>
              </a:defRPr>
            </a:pPr>
            <a:r>
              <a:t>Semente (6-8 anos)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49504"/>
            <a:ext cx="21945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rPr sz="1600" dirty="0"/>
              <a:t>8 </a:t>
            </a:r>
            <a:r>
              <a:rPr sz="1600" dirty="0" err="1"/>
              <a:t>licoes</a:t>
            </a:r>
            <a:br>
              <a:rPr sz="1600" dirty="0"/>
            </a:br>
            <a:r>
              <a:rPr sz="1600" dirty="0"/>
              <a:t>Videos </a:t>
            </a:r>
            <a:r>
              <a:rPr sz="1600" dirty="0" err="1"/>
              <a:t>curtos</a:t>
            </a:r>
            <a:r>
              <a:rPr sz="1600" dirty="0"/>
              <a:t> + HQs com </a:t>
            </a:r>
            <a:r>
              <a:rPr sz="1600" dirty="0" err="1"/>
              <a:t>mascote</a:t>
            </a:r>
            <a:endParaRPr sz="1600" dirty="0"/>
          </a:p>
        </p:txBody>
      </p:sp>
      <p:sp>
        <p:nvSpPr>
          <p:cNvPr id="9" name="Rounded Rectangle 8"/>
          <p:cNvSpPr/>
          <p:nvPr/>
        </p:nvSpPr>
        <p:spPr>
          <a:xfrm>
            <a:off x="3520440" y="1735104"/>
            <a:ext cx="2468880" cy="2286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20440" y="1735104"/>
            <a:ext cx="246888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2009424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2196F3"/>
                </a:solidFill>
                <a:latin typeface="Poppins"/>
              </a:defRPr>
            </a:pPr>
            <a:r>
              <a:t>Broto (9-11 anos)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49504"/>
            <a:ext cx="21945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rPr sz="1600"/>
              <a:t>12 licoes</a:t>
            </a:r>
            <a:br>
              <a:rPr sz="1600"/>
            </a:br>
            <a:r>
              <a:rPr sz="1600"/>
              <a:t>Quizzes + simuladores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35104"/>
            <a:ext cx="2468880" cy="2286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735104"/>
            <a:ext cx="246888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009424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FF6D00"/>
                </a:solidFill>
                <a:latin typeface="Poppins"/>
              </a:defRPr>
            </a:pPr>
            <a:r>
              <a:t>Arvore (12-14 anos)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49504"/>
            <a:ext cx="21945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rPr sz="1600"/>
              <a:t>16 licoes</a:t>
            </a:r>
            <a:br>
              <a:rPr sz="1600"/>
            </a:br>
            <a:r>
              <a:rPr sz="1600"/>
              <a:t>Cases reais + desafios praticos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735104"/>
            <a:ext cx="2468880" cy="2286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98280" y="1735104"/>
            <a:ext cx="2468880" cy="508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2009424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00C853"/>
                </a:solidFill>
                <a:latin typeface="Poppins"/>
              </a:defRPr>
            </a:pPr>
            <a:r>
              <a:t>Floresta (15-17 anos)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649504"/>
            <a:ext cx="21945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rPr sz="1600"/>
              <a:t>20 licoes</a:t>
            </a:r>
            <a:br>
              <a:rPr sz="1600"/>
            </a:br>
            <a:r>
              <a:rPr sz="1600"/>
              <a:t>Investimentos + empreendedorismo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65887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00C853"/>
                </a:solidFill>
                <a:latin typeface="Inter"/>
              </a:defRPr>
            </a:pPr>
            <a:r>
              <a:rPr sz="2000" dirty="0" err="1"/>
              <a:t>Recompensa</a:t>
            </a:r>
            <a:r>
              <a:rPr sz="2000" dirty="0"/>
              <a:t> real: R$ 5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trilha</a:t>
            </a:r>
            <a:r>
              <a:rPr sz="2000" dirty="0"/>
              <a:t> + R$ 20 bonus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completar</a:t>
            </a:r>
            <a:r>
              <a:rPr sz="2000" dirty="0"/>
              <a:t> </a:t>
            </a:r>
            <a:r>
              <a:rPr sz="2000" dirty="0" err="1"/>
              <a:t>todas</a:t>
            </a:r>
            <a:endParaRPr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t>Por que XP / Banco Modal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53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0">
                <a:solidFill>
                  <a:srgbClr val="B0B0B0"/>
                </a:solidFill>
                <a:latin typeface="Inter"/>
              </a:defRPr>
            </a:pPr>
            <a:r>
              <a:rPr dirty="0"/>
              <a:t>Voces </a:t>
            </a:r>
            <a:r>
              <a:rPr dirty="0" err="1"/>
              <a:t>tem</a:t>
            </a:r>
            <a:r>
              <a:rPr dirty="0"/>
              <a:t>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precisamos</a:t>
            </a:r>
            <a:r>
              <a:rPr dirty="0"/>
              <a:t>. Nos </a:t>
            </a:r>
            <a:r>
              <a:rPr dirty="0" err="1"/>
              <a:t>temos</a:t>
            </a:r>
            <a:r>
              <a:rPr dirty="0"/>
              <a:t> o </a:t>
            </a:r>
            <a:r>
              <a:rPr dirty="0" err="1"/>
              <a:t>que</a:t>
            </a:r>
            <a:r>
              <a:rPr dirty="0"/>
              <a:t> voces </a:t>
            </a:r>
            <a:r>
              <a:rPr dirty="0" err="1"/>
              <a:t>precisam</a:t>
            </a:r>
            <a:r>
              <a:rPr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3716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100584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645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00C853"/>
                </a:solidFill>
                <a:latin typeface="Poppins"/>
              </a:defRPr>
            </a:pPr>
            <a:r>
              <a:t>4,7M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B0B0B0"/>
                </a:solidFill>
                <a:latin typeface="Inter"/>
              </a:defRPr>
            </a:pPr>
            <a:r>
              <a:t>clientes ativos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691640"/>
            <a:ext cx="29260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rPr sz="1600" dirty="0" err="1"/>
              <a:t>Adultos</a:t>
            </a:r>
            <a:r>
              <a:rPr sz="1600" dirty="0"/>
              <a:t> classes A/B, a </a:t>
            </a:r>
            <a:r>
              <a:rPr sz="1600" dirty="0" err="1"/>
              <a:t>maioria</a:t>
            </a:r>
            <a:r>
              <a:rPr sz="1600" dirty="0"/>
              <a:t> </a:t>
            </a:r>
            <a:r>
              <a:rPr sz="1600" dirty="0" err="1"/>
              <a:t>pais</a:t>
            </a:r>
            <a:r>
              <a:rPr sz="1600" dirty="0"/>
              <a:t>. Base </a:t>
            </a:r>
            <a:r>
              <a:rPr sz="1600" dirty="0" err="1"/>
              <a:t>pronta</a:t>
            </a:r>
            <a:r>
              <a:rPr sz="1600"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554480"/>
            <a:ext cx="5029200" cy="100584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1645920"/>
            <a:ext cx="1645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00C853"/>
                </a:solidFill>
                <a:latin typeface="Poppins"/>
              </a:defRPr>
            </a:pPr>
            <a:r>
              <a:t>18.200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05740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B0B0B0"/>
                </a:solidFill>
                <a:latin typeface="Inter"/>
              </a:defRPr>
            </a:pPr>
            <a:r>
              <a:t>assessores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691640"/>
            <a:ext cx="29260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rPr sz="1600"/>
              <a:t>Canal de venda consultiva de alta confianca.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5029200" cy="100584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834640"/>
            <a:ext cx="1645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00C853"/>
                </a:solidFill>
                <a:latin typeface="Poppins"/>
              </a:defRPr>
            </a:pPr>
            <a:r>
              <a:t>R$ 1,2T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4612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B0B0B0"/>
                </a:solidFill>
                <a:latin typeface="Inter"/>
              </a:defRPr>
            </a:pPr>
            <a:r>
              <a:t>em AUM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880360"/>
            <a:ext cx="29260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rPr sz="1600"/>
              <a:t>Clientes com poder de compra para plano premium.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2743200"/>
            <a:ext cx="5029200" cy="100584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2834640"/>
            <a:ext cx="1645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00C853"/>
                </a:solidFill>
                <a:latin typeface="Poppins"/>
              </a:defRPr>
            </a:pPr>
            <a:r>
              <a:t>Instituto XP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880360"/>
            <a:ext cx="29260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rPr sz="1600"/>
              <a:t>Meta: educacao financeira para 50M de brasileiros.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00C853"/>
                </a:solidFill>
                <a:latin typeface="Inter"/>
              </a:defRPr>
            </a:pPr>
            <a:r>
              <a:t>"Se 5% dos clientes XP aderirem, sao 235.000 familias."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t>A Logica Estrategica: CAC Intergeracional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79190"/>
            <a:ext cx="13716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560320"/>
          </a:xfrm>
          <a:prstGeom prst="roundRect">
            <a:avLst/>
          </a:prstGeom>
          <a:solidFill>
            <a:srgbClr val="2D2D44"/>
          </a:solidFill>
          <a:ln w="381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291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F44336"/>
                </a:solidFill>
                <a:latin typeface="Poppins"/>
              </a:defRPr>
            </a:pPr>
            <a:r>
              <a:t>R$ 500-1.000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743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Custo para adquirir</a:t>
            </a:r>
            <a:br/>
            <a:r>
              <a:t>1 cliente adulto hoje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291840" cy="2560320"/>
          </a:xfrm>
          <a:prstGeom prst="roundRect">
            <a:avLst/>
          </a:prstGeom>
          <a:solidFill>
            <a:srgbClr val="2D2D44"/>
          </a:solidFill>
          <a:ln w="38100"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43400" y="1737360"/>
            <a:ext cx="3291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FFEB3B"/>
                </a:solidFill>
                <a:latin typeface="Poppins"/>
              </a:defRPr>
            </a:pPr>
            <a:r>
              <a:t>~R$ 50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651760"/>
            <a:ext cx="2743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Custo para onboardar</a:t>
            </a:r>
            <a:br/>
            <a:r>
              <a:t>1 familia via GRANIX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371600"/>
            <a:ext cx="3291840" cy="2560320"/>
          </a:xfrm>
          <a:prstGeom prst="roundRect">
            <a:avLst/>
          </a:prstGeom>
          <a:solidFill>
            <a:srgbClr val="2D2D44"/>
          </a:solidFill>
          <a:ln w="381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0" y="1737360"/>
            <a:ext cx="32918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00C853"/>
                </a:solidFill>
                <a:latin typeface="Poppins"/>
              </a:defRPr>
            </a:pPr>
            <a:r>
              <a:t>R$ 0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651760"/>
            <a:ext cx="2743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Custo quando crianca</a:t>
            </a:r>
            <a:br/>
            <a:r>
              <a:t>vira cliente XP aos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Cada familia GRANIX = pipeline de 1-4 futuros clientes adultos da XP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B0B0B0"/>
                </a:solidFill>
                <a:latin typeface="Inter"/>
              </a:defRPr>
            </a:pPr>
            <a:r>
              <a:t>Greenlight provou isso com 150+ bancos nos EUA, incluindo JPMorgan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t>Opcoes de Parceria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79190"/>
            <a:ext cx="13716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3200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34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C853"/>
                </a:solidFill>
                <a:latin typeface="Poppins"/>
              </a:defRPr>
            </a:pPr>
            <a:r>
              <a:t>Opcao A: BaaS + Distribuicao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283464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rPr sz="1600" dirty="0"/>
              <a:t>XP </a:t>
            </a:r>
            <a:r>
              <a:rPr sz="1600" dirty="0" err="1"/>
              <a:t>fornece</a:t>
            </a:r>
            <a:r>
              <a:rPr sz="1600" dirty="0"/>
              <a:t> infra </a:t>
            </a:r>
            <a:r>
              <a:rPr sz="1600" dirty="0" err="1"/>
              <a:t>bancaria</a:t>
            </a:r>
            <a:r>
              <a:rPr sz="1600" dirty="0"/>
              <a:t> (Modal) + canal </a:t>
            </a:r>
            <a:r>
              <a:rPr sz="1600" dirty="0" err="1"/>
              <a:t>assessores</a:t>
            </a:r>
            <a:r>
              <a:rPr sz="1600" dirty="0"/>
              <a:t>.</a:t>
            </a:r>
            <a:br>
              <a:rPr sz="1600" dirty="0"/>
            </a:br>
            <a:br>
              <a:rPr sz="1600" dirty="0"/>
            </a:br>
            <a:r>
              <a:rPr sz="1600" dirty="0"/>
              <a:t>Revenue share </a:t>
            </a:r>
            <a:r>
              <a:rPr sz="1600" dirty="0" err="1"/>
              <a:t>sobre</a:t>
            </a:r>
            <a:r>
              <a:rPr sz="1600" dirty="0"/>
              <a:t> </a:t>
            </a:r>
            <a:r>
              <a:rPr sz="1600" dirty="0" err="1"/>
              <a:t>assinaturas</a:t>
            </a:r>
            <a:r>
              <a:rPr sz="1600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291840" cy="3200400"/>
          </a:xfrm>
          <a:prstGeom prst="roundRect">
            <a:avLst/>
          </a:prstGeom>
          <a:solidFill>
            <a:srgbClr val="2D2D44"/>
          </a:solidFill>
          <a:ln w="381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61796" y="1645920"/>
            <a:ext cx="358402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C853"/>
                </a:solidFill>
                <a:latin typeface="Poppins"/>
              </a:defRPr>
            </a:pPr>
            <a:r>
              <a:rPr dirty="0" err="1"/>
              <a:t>Opcao</a:t>
            </a:r>
            <a:r>
              <a:rPr dirty="0"/>
              <a:t> B: BaaS + Investimento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283464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rPr sz="1600"/>
              <a:t>Opcao A + XP investe R$ 1-2M no pre-seed.</a:t>
            </a:r>
            <a:br>
              <a:rPr sz="1600"/>
            </a:br>
            <a:br>
              <a:rPr sz="1600"/>
            </a:br>
            <a:r>
              <a:rPr sz="1600"/>
              <a:t>Equity minoritario.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371600"/>
            <a:ext cx="3291840" cy="3200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80" y="1645920"/>
            <a:ext cx="2834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C853"/>
                </a:solidFill>
                <a:latin typeface="Poppins"/>
              </a:defRPr>
            </a:pPr>
            <a:r>
              <a:t>Opcao C: White-Label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286000"/>
            <a:ext cx="283464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rPr sz="1600"/>
              <a:t>GRANIX como 'XP Familia'.</a:t>
            </a:r>
            <a:br>
              <a:rPr sz="1600"/>
            </a:br>
            <a:r>
              <a:rPr sz="1600"/>
              <a:t>XP paga licenciamento.</a:t>
            </a:r>
            <a:br>
              <a:rPr sz="1600"/>
            </a:br>
            <a:br>
              <a:rPr sz="1600"/>
            </a:br>
            <a:r>
              <a:rPr sz="1600"/>
              <a:t>Modelo Greenlight for Banks.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t>Investimento e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754880" cy="146304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389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00C853"/>
                </a:solidFill>
                <a:latin typeface="Poppins"/>
              </a:defRPr>
            </a:pPr>
            <a:r>
              <a:t>Investimento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MVP + 6 meses: R$ 1,1M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389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rPr dirty="0"/>
              <a:t>Com </a:t>
            </a:r>
            <a:r>
              <a:rPr dirty="0" err="1"/>
              <a:t>parceria</a:t>
            </a:r>
            <a:r>
              <a:rPr dirty="0"/>
              <a:t> XP: ~R$ 800-900K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371600"/>
            <a:ext cx="5669280" cy="29260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0" y="146304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00C853"/>
                </a:solidFill>
                <a:latin typeface="Poppins"/>
              </a:defRPr>
            </a:pPr>
            <a:r>
              <a:t>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20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0C853"/>
                </a:solidFill>
                <a:latin typeface="Poppins"/>
              </a:rPr>
              <a:t>  &gt;  </a:t>
            </a:r>
            <a:r>
              <a:rPr sz="1200" b="0" dirty="0">
                <a:solidFill>
                  <a:srgbClr val="FFFFFF"/>
                </a:solidFill>
                <a:latin typeface="Inter"/>
              </a:rPr>
              <a:t>M1-M2: Setup e </a:t>
            </a:r>
            <a:r>
              <a:rPr sz="1200" b="0" dirty="0" err="1">
                <a:solidFill>
                  <a:srgbClr val="FFFFFF"/>
                </a:solidFill>
                <a:latin typeface="Inter"/>
              </a:rPr>
              <a:t>integracao</a:t>
            </a:r>
            <a:r>
              <a:rPr sz="1200" b="0" dirty="0">
                <a:solidFill>
                  <a:srgbClr val="FFFFFF"/>
                </a:solidFill>
                <a:latin typeface="Inter"/>
              </a:rPr>
              <a:t> BaaS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677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Poppins"/>
              </a:rPr>
              <a:t>  &gt;  </a:t>
            </a:r>
            <a:r>
              <a:rPr sz="1200" b="0">
                <a:solidFill>
                  <a:srgbClr val="FFFFFF"/>
                </a:solidFill>
                <a:latin typeface="Inter"/>
              </a:rPr>
              <a:t>M3-M5: Desenvolvimento 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151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0C853"/>
                </a:solidFill>
                <a:latin typeface="Poppins"/>
              </a:rPr>
              <a:t>  &gt;  </a:t>
            </a:r>
            <a:r>
              <a:rPr sz="1200" b="0" dirty="0">
                <a:solidFill>
                  <a:srgbClr val="FFFFFF"/>
                </a:solidFill>
                <a:latin typeface="Inter"/>
              </a:rPr>
              <a:t>M6-M7: Piloto com 500 </a:t>
            </a:r>
            <a:r>
              <a:rPr sz="1200" b="0" dirty="0" err="1">
                <a:solidFill>
                  <a:srgbClr val="FFFFFF"/>
                </a:solidFill>
                <a:latin typeface="Inter"/>
              </a:rPr>
              <a:t>familias</a:t>
            </a:r>
            <a:r>
              <a:rPr sz="1200" b="0" dirty="0">
                <a:solidFill>
                  <a:srgbClr val="FFFFFF"/>
                </a:solidFill>
                <a:latin typeface="Inter"/>
              </a:rPr>
              <a:t> (</a:t>
            </a:r>
            <a:r>
              <a:rPr sz="1200" b="0" dirty="0" err="1">
                <a:solidFill>
                  <a:srgbClr val="FFFFFF"/>
                </a:solidFill>
                <a:latin typeface="Inter"/>
              </a:rPr>
              <a:t>assessores</a:t>
            </a:r>
            <a:r>
              <a:rPr sz="1200" b="0" dirty="0">
                <a:solidFill>
                  <a:srgbClr val="FFFFFF"/>
                </a:solidFill>
                <a:latin typeface="Inter"/>
              </a:rPr>
              <a:t> XP)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626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Poppins"/>
              </a:rPr>
              <a:t>  &gt;  </a:t>
            </a:r>
            <a:r>
              <a:rPr sz="1200" b="0">
                <a:solidFill>
                  <a:srgbClr val="FFFFFF"/>
                </a:solidFill>
                <a:latin typeface="Inter"/>
              </a:rPr>
              <a:t>M8: Analise de metricas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3101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Poppins"/>
              </a:rPr>
              <a:t>  &gt;  </a:t>
            </a:r>
            <a:r>
              <a:rPr sz="1200" b="0">
                <a:solidFill>
                  <a:srgbClr val="FFFFFF"/>
                </a:solidFill>
                <a:latin typeface="Inter"/>
              </a:rPr>
              <a:t>M9+: Lancamento publico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67201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00C853"/>
                </a:solidFill>
                <a:latin typeface="Poppins"/>
              </a:defRPr>
            </a:pPr>
            <a:r>
              <a:t>Projecoes Financeiras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703381"/>
            <a:ext cx="13716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0C853"/>
                </a:solidFill>
                <a:latin typeface="Poppins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17520" y="4703381"/>
            <a:ext cx="1828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0C853"/>
                </a:solidFill>
                <a:latin typeface="Poppins"/>
              </a:defRPr>
            </a:pPr>
            <a:r>
              <a:t>Familias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703381"/>
            <a:ext cx="1828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0C853"/>
                </a:solidFill>
                <a:latin typeface="Poppins"/>
              </a:defRPr>
            </a:pPr>
            <a:r>
              <a:t>ARR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703381"/>
            <a:ext cx="1828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0C853"/>
                </a:solidFill>
                <a:latin typeface="Poppins"/>
              </a:defRPr>
            </a:pPr>
            <a:r>
              <a:t>EBITDA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050853"/>
            <a:ext cx="13716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0C853"/>
                </a:solidFill>
                <a:latin typeface="Inter"/>
              </a:defRPr>
            </a:pPr>
            <a:r>
              <a:t>Ano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050853"/>
            <a:ext cx="1828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FFFFFF"/>
                </a:solidFill>
                <a:latin typeface="Inter"/>
              </a:defRPr>
            </a:pPr>
            <a:r>
              <a:t>15K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5050853"/>
            <a:ext cx="1828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FFFFFF"/>
                </a:solidFill>
                <a:latin typeface="Inter"/>
              </a:defRPr>
            </a:pPr>
            <a:r>
              <a:t>R$ 4,1M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050853"/>
            <a:ext cx="1828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FFFFFF"/>
                </a:solidFill>
                <a:latin typeface="Inter"/>
              </a:defRPr>
            </a:pPr>
            <a:r>
              <a:t>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398325"/>
            <a:ext cx="13716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0C853"/>
                </a:solidFill>
                <a:latin typeface="Inter"/>
              </a:defRPr>
            </a:pPr>
            <a:r>
              <a:t>Ano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5398325"/>
            <a:ext cx="1828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FFFFFF"/>
                </a:solidFill>
                <a:latin typeface="Inter"/>
              </a:defRPr>
            </a:pPr>
            <a:r>
              <a:t>45K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5398325"/>
            <a:ext cx="1828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FFFFFF"/>
                </a:solidFill>
                <a:latin typeface="Inter"/>
              </a:defRPr>
            </a:pPr>
            <a:r>
              <a:t>R$ 12,2M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398325"/>
            <a:ext cx="1828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FFFFFF"/>
                </a:solidFill>
                <a:latin typeface="Inter"/>
              </a:defRPr>
            </a:pPr>
            <a:r>
              <a:t>-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745797"/>
            <a:ext cx="13716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0C853"/>
                </a:solidFill>
                <a:latin typeface="Inter"/>
              </a:defRPr>
            </a:pPr>
            <a:r>
              <a:t>Ano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745797"/>
            <a:ext cx="1828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FFFFFF"/>
                </a:solidFill>
                <a:latin typeface="Inter"/>
              </a:defRPr>
            </a:pPr>
            <a:r>
              <a:t>100K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5745797"/>
            <a:ext cx="1828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FFFFFF"/>
                </a:solidFill>
                <a:latin typeface="Inter"/>
              </a:defRPr>
            </a:pPr>
            <a:r>
              <a:t>R$ 27M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745797"/>
            <a:ext cx="1828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FFFFFF"/>
                </a:solidFill>
                <a:latin typeface="Inter"/>
              </a:defRPr>
            </a:pPr>
            <a:r>
              <a:t>-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6093269"/>
            <a:ext cx="13716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0C853"/>
                </a:solidFill>
                <a:latin typeface="Inter"/>
              </a:defRPr>
            </a:pPr>
            <a:r>
              <a:t>Ano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6093269"/>
            <a:ext cx="1828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FFFFFF"/>
                </a:solidFill>
                <a:latin typeface="Inter"/>
              </a:defRPr>
            </a:pPr>
            <a:r>
              <a:t>300K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6093269"/>
            <a:ext cx="1828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FFFFFF"/>
                </a:solidFill>
                <a:latin typeface="Inter"/>
              </a:defRPr>
            </a:pPr>
            <a:r>
              <a:t>R$ 81,1M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6093269"/>
            <a:ext cx="18288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FFFFFF"/>
                </a:solidFill>
                <a:latin typeface="Inter"/>
              </a:defRPr>
            </a:pPr>
            <a:r>
              <a:t>51%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lang="pt-BR" dirty="0"/>
              <a:t>A</a:t>
            </a:r>
            <a:r>
              <a:rPr dirty="0"/>
              <a:t> </a:t>
            </a:r>
            <a:r>
              <a:rPr lang="pt-BR" dirty="0"/>
              <a:t>Oportunidade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815600" y="879969"/>
            <a:ext cx="13716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164592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C853"/>
                </a:solidFill>
                <a:latin typeface="Poppins"/>
              </a:defRPr>
            </a:pPr>
            <a:r>
              <a:t>1. Infraestrutura bancaria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9260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rPr sz="1800" dirty="0"/>
              <a:t>Usar a </a:t>
            </a:r>
            <a:r>
              <a:rPr sz="1800" dirty="0" err="1"/>
              <a:t>plataforma</a:t>
            </a:r>
            <a:r>
              <a:rPr sz="1800" dirty="0"/>
              <a:t> do Modal </a:t>
            </a:r>
            <a:r>
              <a:rPr sz="1800" dirty="0" err="1"/>
              <a:t>como</a:t>
            </a:r>
            <a:r>
              <a:rPr sz="1800" dirty="0"/>
              <a:t> BaaS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291840" cy="164592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60020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C853"/>
                </a:solidFill>
                <a:latin typeface="Poppins"/>
              </a:defRPr>
            </a:pPr>
            <a:r>
              <a:t>2. Canal de distribuicao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48840"/>
            <a:ext cx="29260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rPr sz="1800"/>
              <a:t>Acesso aos assessores e clientes XP para o piloto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371600"/>
            <a:ext cx="3291840" cy="164592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1600200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C853"/>
                </a:solidFill>
                <a:latin typeface="Poppins"/>
              </a:defRPr>
            </a:pPr>
            <a:r>
              <a:t>3. Investimento pre-seed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48840"/>
            <a:ext cx="29260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rPr sz="1800"/>
              <a:t>R$ 1,5M por equity minoritario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698480" cy="13716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828915"/>
            <a:ext cx="10058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FFFFFF"/>
                </a:solidFill>
                <a:latin typeface="Poppins"/>
              </a:defRPr>
            </a:pPr>
            <a:r>
              <a:rPr dirty="0"/>
              <a:t>"A quest</a:t>
            </a:r>
            <a:r>
              <a:rPr lang="pt-BR" dirty="0" err="1"/>
              <a:t>ã</a:t>
            </a:r>
            <a:r>
              <a:rPr dirty="0"/>
              <a:t>o n</a:t>
            </a:r>
            <a:r>
              <a:rPr lang="pt-BR" dirty="0" err="1"/>
              <a:t>ã</a:t>
            </a:r>
            <a:r>
              <a:rPr dirty="0"/>
              <a:t>o </a:t>
            </a:r>
            <a:r>
              <a:rPr lang="pt-BR" dirty="0"/>
              <a:t>é</a:t>
            </a:r>
            <a:r>
              <a:rPr dirty="0"/>
              <a:t> SE </a:t>
            </a:r>
            <a:r>
              <a:rPr dirty="0" err="1"/>
              <a:t>alguem</a:t>
            </a:r>
            <a:r>
              <a:rPr dirty="0"/>
              <a:t> </a:t>
            </a:r>
            <a:r>
              <a:rPr dirty="0" err="1"/>
              <a:t>vai</a:t>
            </a:r>
            <a:r>
              <a:rPr dirty="0"/>
              <a:t> </a:t>
            </a:r>
            <a:r>
              <a:rPr dirty="0" err="1"/>
              <a:t>fazer</a:t>
            </a:r>
            <a:r>
              <a:rPr dirty="0"/>
              <a:t> o Greenlight </a:t>
            </a:r>
            <a:r>
              <a:rPr dirty="0" err="1"/>
              <a:t>brasileiro</a:t>
            </a:r>
            <a:r>
              <a:rPr dirty="0"/>
              <a:t>.</a:t>
            </a:r>
            <a:br>
              <a:rPr dirty="0"/>
            </a:br>
            <a:r>
              <a:rPr lang="pt-BR" dirty="0"/>
              <a:t>É</a:t>
            </a:r>
            <a:r>
              <a:rPr dirty="0"/>
              <a:t> QUEM e QUANDO."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594360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0">
                <a:solidFill>
                  <a:srgbClr val="B0B0B0"/>
                </a:solidFill>
                <a:latin typeface="Inter"/>
              </a:defRPr>
            </a:pPr>
            <a:r>
              <a:t>Confidencial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SQ - Pitch Deck Dark 1">
      <a:dk1>
        <a:srgbClr val="FFFFFF"/>
      </a:dk1>
      <a:lt1>
        <a:srgbClr val="FFFFFF"/>
      </a:lt1>
      <a:dk2>
        <a:srgbClr val="FFFFFF"/>
      </a:dk2>
      <a:lt2>
        <a:srgbClr val="363D48"/>
      </a:lt2>
      <a:accent1>
        <a:srgbClr val="FE7E4E"/>
      </a:accent1>
      <a:accent2>
        <a:srgbClr val="FE5F52"/>
      </a:accent2>
      <a:accent3>
        <a:srgbClr val="EA4B54"/>
      </a:accent3>
      <a:accent4>
        <a:srgbClr val="FE7E4E"/>
      </a:accent4>
      <a:accent5>
        <a:srgbClr val="FE5F52"/>
      </a:accent5>
      <a:accent6>
        <a:srgbClr val="EA4B54"/>
      </a:accent6>
      <a:hlink>
        <a:srgbClr val="1E9272"/>
      </a:hlink>
      <a:folHlink>
        <a:srgbClr val="AC2624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86745</TotalTime>
  <Words>1019</Words>
  <Application>Microsoft Macintosh PowerPoint</Application>
  <PresentationFormat>Widescreen</PresentationFormat>
  <Paragraphs>211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Inter</vt:lpstr>
      <vt:lpstr>Montserrat</vt:lpstr>
      <vt:lpstr>Montserrat Light</vt:lpstr>
      <vt:lpstr>Poppins</vt:lpstr>
      <vt:lpstr>Roboto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Totó Busnello</cp:lastModifiedBy>
  <cp:revision>15921</cp:revision>
  <dcterms:created xsi:type="dcterms:W3CDTF">2014-11-12T21:47:38Z</dcterms:created>
  <dcterms:modified xsi:type="dcterms:W3CDTF">2026-03-05T10:27:26Z</dcterms:modified>
  <cp:category/>
</cp:coreProperties>
</file>