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55310" y="914400"/>
            <a:ext cx="1280160" cy="1280160"/>
          </a:xfrm>
          <a:prstGeom prst="ellipse">
            <a:avLst/>
          </a:prstGeom>
          <a:noFill/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9990" y="1325880"/>
            <a:ext cx="50800" cy="32004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19200000">
            <a:off x="5894222" y="1353312"/>
            <a:ext cx="201168" cy="914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2400000">
            <a:off x="6113678" y="1353312"/>
            <a:ext cx="201168" cy="914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Poppins"/>
              </a:rPr>
              <a:t>GRAN</a:t>
            </a:r>
            <a:r>
              <a:rPr sz="7200" b="1">
                <a:solidFill>
                  <a:srgbClr val="00C853"/>
                </a:solidFill>
                <a:latin typeface="Poppins"/>
              </a:rPr>
              <a:t>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418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B0B0B0"/>
                </a:solidFill>
                <a:latin typeface="Inter"/>
              </a:defRPr>
            </a:pPr>
            <a:r>
              <a:t>Educacao Financeira Gamificada para a Proxima Geracao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4297680"/>
            <a:ext cx="2103120" cy="254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C853"/>
                </a:solidFill>
                <a:latin typeface="Poppins"/>
              </a:defRPr>
            </a:pPr>
            <a:r>
              <a:t>Parceria Estrategica com XP Investimentos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707080"/>
                </a:solidFill>
                <a:latin typeface="Inter"/>
              </a:defRPr>
            </a:pPr>
            <a:r>
              <a:t>Confidencial | Marco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85% dos pais querem ensinar educacao financeira. Nenhum app resolve.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5544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6200" cy="1554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C853"/>
                </a:solidFill>
                <a:latin typeface="Poppins"/>
              </a:defRPr>
            </a:pPr>
            <a:r>
              <a:t>37.9M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002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jovens brasileiros (6-17 anos)</a:t>
            </a:r>
            <a:br/>
            <a:r>
              <a:t>sem educacao financeira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15544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6200" cy="155448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6D00"/>
                </a:solidFill>
                <a:latin typeface="Poppins"/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0020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dos pais interessados em ensinar</a:t>
            </a:r>
            <a:br/>
            <a:r>
              <a:t>educacao financeira (Serasa 2021)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029200" cy="15544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76200" cy="15544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7472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2196F3"/>
                </a:solidFill>
                <a:latin typeface="Poppins"/>
              </a:defRPr>
            </a:pPr>
            <a:r>
              <a:t>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2044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dos jovens 9-17 sao usuarios</a:t>
            </a:r>
            <a:br/>
            <a:r>
              <a:t>de internet (CETIC 2024)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91840"/>
            <a:ext cx="5029200" cy="155448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91840"/>
            <a:ext cx="76200" cy="15544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1828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E91E63"/>
                </a:solidFill>
                <a:latin typeface="Poppins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520440"/>
            <a:ext cx="26517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FFFFFF"/>
                </a:solidFill>
                <a:latin typeface="Inter"/>
              </a:defRPr>
            </a:pPr>
            <a:r>
              <a:t>apps combinam investimento real</a:t>
            </a:r>
            <a:br/>
            <a:r>
              <a:t>+ educacao gamificada no Brasil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B0B0B0"/>
                </a:solidFill>
                <a:latin typeface="Inter"/>
              </a:defRPr>
            </a:pPr>
            <a:r>
              <a:t>"A XP tem a melhor conta de investimento para menores. Mas a experiencia e identica a de um adulto."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XP tem tudo. Menos a experiencia.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36576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O que XP JA 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✓  </a:t>
            </a:r>
            <a:r>
              <a:rPr sz="1300" b="0">
                <a:solidFill>
                  <a:srgbClr val="FFFFFF"/>
                </a:solidFill>
                <a:latin typeface="Inter"/>
              </a:rPr>
              <a:t>Conta completa (PIX, cartao, investimentos)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✓  </a:t>
            </a:r>
            <a:r>
              <a:rPr sz="1300" b="0">
                <a:solidFill>
                  <a:srgbClr val="FFFFFF"/>
                </a:solidFill>
                <a:latin typeface="Inter"/>
              </a:rPr>
              <a:t>4.8M clientes ativos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797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✓  </a:t>
            </a:r>
            <a:r>
              <a:rPr sz="1300" b="0">
                <a:solidFill>
                  <a:srgbClr val="FFFFFF"/>
                </a:solidFill>
                <a:latin typeface="Inter"/>
              </a:rPr>
              <a:t>18.200 assessores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638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✓  </a:t>
            </a:r>
            <a:r>
              <a:rPr sz="1300" b="0">
                <a:solidFill>
                  <a:srgbClr val="FFFFFF"/>
                </a:solidFill>
                <a:latin typeface="Inter"/>
              </a:rPr>
              <a:t>R$1.2T sob gestao (AUM)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478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✓  </a:t>
            </a:r>
            <a:r>
              <a:rPr sz="1300" b="0">
                <a:solidFill>
                  <a:srgbClr val="FFFFFF"/>
                </a:solidFill>
                <a:latin typeface="Inter"/>
              </a:rPr>
              <a:t>Banco Modal (BaaS)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53"/>
                </a:solidFill>
                <a:latin typeface="Poppins"/>
              </a:rPr>
              <a:t>✓  </a:t>
            </a:r>
            <a:r>
              <a:rPr sz="1300" b="0">
                <a:solidFill>
                  <a:srgbClr val="FFFFFF"/>
                </a:solidFill>
                <a:latin typeface="Inter"/>
              </a:rPr>
              <a:t>Instituto XP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029200" cy="36576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F6D00"/>
                </a:solidFill>
                <a:latin typeface="Poppins"/>
              </a:defRPr>
            </a:pPr>
            <a:r>
              <a:t>O que XP NAO 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Poppins"/>
              </a:rPr>
              <a:t>✖  </a:t>
            </a:r>
            <a:r>
              <a:rPr sz="1300" b="0">
                <a:solidFill>
                  <a:srgbClr val="FFFFFF"/>
                </a:solidFill>
                <a:latin typeface="Inter"/>
              </a:rPr>
              <a:t>App adaptado para jovens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95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Poppins"/>
              </a:rPr>
              <a:t>✖  </a:t>
            </a:r>
            <a:r>
              <a:rPr sz="1300" b="0">
                <a:solidFill>
                  <a:srgbClr val="FFFFFF"/>
                </a:solidFill>
                <a:latin typeface="Inter"/>
              </a:rPr>
              <a:t>Gamificacao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797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Poppins"/>
              </a:rPr>
              <a:t>✖  </a:t>
            </a:r>
            <a:r>
              <a:rPr sz="1300" b="0">
                <a:solidFill>
                  <a:srgbClr val="FFFFFF"/>
                </a:solidFill>
                <a:latin typeface="Inter"/>
              </a:rPr>
              <a:t>Educacao financeira interativa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6382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Poppins"/>
              </a:rPr>
              <a:t>✖  </a:t>
            </a:r>
            <a:r>
              <a:rPr sz="1300" b="0">
                <a:solidFill>
                  <a:srgbClr val="FFFFFF"/>
                </a:solidFill>
                <a:latin typeface="Inter"/>
              </a:rPr>
              <a:t>Tarefas / Mesada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478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Poppins"/>
              </a:rPr>
              <a:t>✖  </a:t>
            </a:r>
            <a:r>
              <a:rPr sz="1300" b="0">
                <a:solidFill>
                  <a:srgbClr val="FFFFFF"/>
                </a:solidFill>
                <a:latin typeface="Inter"/>
              </a:rPr>
              <a:t>Dashboard familiar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Poppins"/>
              </a:rPr>
              <a:t>✖  </a:t>
            </a:r>
            <a:r>
              <a:rPr sz="1300" b="0">
                <a:solidFill>
                  <a:srgbClr val="FFFFFF"/>
                </a:solidFill>
                <a:latin typeface="Inter"/>
              </a:rPr>
              <a:t>Engajamento youth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94960"/>
            <a:ext cx="10698480" cy="6400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6D00"/>
                </a:solidFill>
                <a:latin typeface="Inter"/>
              </a:defRPr>
            </a:pPr>
            <a:r>
              <a:t>Enquanto isso, Nubank Familia, Inter Kids e C6 Yellow capturam familias.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3 Modulos. 1 Plataforma. Sobre a XP.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4747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48840" y="1645920"/>
            <a:ext cx="548640" cy="548640"/>
          </a:xfrm>
          <a:prstGeom prst="ellipse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6D00"/>
                </a:solidFill>
                <a:latin typeface="Poppins"/>
              </a:defRPr>
            </a:pPr>
            <a:r>
              <a:t>TAREFAS &amp; RECOMPENSAS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29260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Mesada digital, tarefas com recompensa real, aprovacao dos pais, dinheiro flui para conta XP do menor.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34747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38328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1645920"/>
            <a:ext cx="548640" cy="54864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196F3"/>
                </a:solidFill>
                <a:latin typeface="Poppins"/>
              </a:defRPr>
            </a:pPr>
            <a:r>
              <a:t>GRANIX ACADEMY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9260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Educacao financeira gamificada, 4 trilhas por idade (6-17), alinhado BNCC, conectado a investimentos reais na XP.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383280" cy="34747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383280" cy="635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645920"/>
            <a:ext cx="548640" cy="54864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9C27B0"/>
                </a:solidFill>
                <a:latin typeface="Poppins"/>
              </a:defRPr>
            </a:pPr>
            <a:r>
              <a:t>GAMIFICACAO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17520"/>
            <a:ext cx="292608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FFFFFF"/>
                </a:solidFill>
                <a:latin typeface="Inter"/>
              </a:defRPr>
            </a:pPr>
            <a:r>
              <a:t>XP Points, badges, niveis, ranking familiar, avatar personalizavel, desafios semanais.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Inter"/>
              </a:defRPr>
            </a:pPr>
            <a:r>
              <a:t>Tudo integrado a conta real do menor na XP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Poppins"/>
              </a:defRPr>
            </a:pPr>
            <a:r>
              <a:t>O Sistema de 4 Buckets: Unico no Brasil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2926080"/>
          </a:xfrm>
          <a:prstGeom prst="roundRect">
            <a:avLst/>
          </a:prstGeom>
          <a:solidFill>
            <a:srgbClr val="1A1E30"/>
          </a:solidFill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468880" cy="762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00C853"/>
                </a:solidFill>
                <a:latin typeface="Poppins"/>
              </a:defRPr>
            </a:pPr>
            <a:r>
              <a:t>GASTAR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Poppins"/>
              </a:defRPr>
            </a:pPr>
            <a:r>
              <a:t>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Dinheiro do dia-a-dia</a:t>
            </a:r>
            <a:br/>
            <a:r>
              <a:t>via cartao XP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280160"/>
            <a:ext cx="2468880" cy="2926080"/>
          </a:xfrm>
          <a:prstGeom prst="roundRect">
            <a:avLst/>
          </a:prstGeom>
          <a:solidFill>
            <a:srgbClr val="1A1E30"/>
          </a:solidFill>
          <a:ln w="381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280160"/>
            <a:ext cx="2468880" cy="76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2196F3"/>
                </a:solidFill>
                <a:latin typeface="Poppins"/>
              </a:defRPr>
            </a:pPr>
            <a:r>
              <a:t>GUARDAR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Poppins"/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Objetivos de</a:t>
            </a:r>
            <a:br/>
            <a:r>
              <a:t>curto prazo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280160"/>
            <a:ext cx="2468880" cy="2926080"/>
          </a:xfrm>
          <a:prstGeom prst="roundRect">
            <a:avLst/>
          </a:prstGeom>
          <a:solidFill>
            <a:srgbClr val="1A1E30"/>
          </a:solidFill>
          <a:ln w="381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280160"/>
            <a:ext cx="2468880" cy="76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E91E63"/>
                </a:solidFill>
                <a:latin typeface="Poppins"/>
              </a:defRPr>
            </a:pPr>
            <a:r>
              <a:t>DOAR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Poppins"/>
              </a:defRPr>
            </a:pPr>
            <a: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Generosidade e</a:t>
            </a:r>
            <a:br/>
            <a:r>
              <a:t>impacto social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280160"/>
            <a:ext cx="2468880" cy="2926080"/>
          </a:xfrm>
          <a:prstGeom prst="roundRect">
            <a:avLst/>
          </a:prstGeom>
          <a:solidFill>
            <a:srgbClr val="1A1E30"/>
          </a:solidFill>
          <a:ln w="381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280160"/>
            <a:ext cx="2468880" cy="762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5448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9C27B0"/>
                </a:solidFill>
                <a:latin typeface="Poppins"/>
              </a:defRPr>
            </a:pPr>
            <a:r>
              <a:t>INVESTIR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01168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Poppins"/>
              </a:defRPr>
            </a:pPr>
            <a: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834640"/>
            <a:ext cx="21031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Tesouro Educa+, CDB,</a:t>
            </a:r>
            <a:br/>
            <a:r>
              <a:t>Fundos na XP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0">
                <a:solidFill>
                  <a:srgbClr val="FFFFFF"/>
                </a:solidFill>
                <a:latin typeface="Inter"/>
              </a:defRPr>
            </a:pPr>
            <a:r>
              <a:t>Cada real que entra e distribuido automaticamente nos 4 buckets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500" b="1">
                <a:solidFill>
                  <a:srgbClr val="00C853"/>
                </a:solidFill>
                <a:latin typeface="Inter"/>
              </a:defRPr>
            </a:pPr>
            <a:r>
              <a:t>Nenhum concorrente brasileiro oferece este sistema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Greenlight provou o modelo nos EUA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13716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800" b="1">
                <a:solidFill>
                  <a:srgbClr val="00C853"/>
                </a:solidFill>
                <a:latin typeface="Poppins"/>
              </a:defRPr>
            </a:pPr>
            <a:r>
              <a:t>US$228.5M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revenue (2024)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291840" cy="13716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50876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800" b="1">
                <a:solidFill>
                  <a:srgbClr val="00C853"/>
                </a:solidFill>
                <a:latin typeface="Poppins"/>
              </a:defRPr>
            </a:pPr>
            <a:r>
              <a:t>$3.2B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488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371600"/>
            <a:ext cx="3291840" cy="13716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50876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800" b="1">
                <a:solidFill>
                  <a:srgbClr val="00C853"/>
                </a:solidFill>
                <a:latin typeface="Poppins"/>
              </a:defRPr>
            </a:pPr>
            <a:r>
              <a:t>6.5M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14884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familias ativas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3291840" cy="13716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800" b="1">
                <a:solidFill>
                  <a:srgbClr val="00C853"/>
                </a:solidFill>
                <a:latin typeface="Poppins"/>
              </a:defRPr>
            </a:pPr>
            <a:r>
              <a:t>150+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bancos parceiros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017520"/>
            <a:ext cx="3291840" cy="13716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800" b="1">
                <a:solidFill>
                  <a:srgbClr val="00C853"/>
                </a:solidFill>
                <a:latin typeface="Poppins"/>
              </a:defRPr>
            </a:pPr>
            <a:r>
              <a:t>US$556M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947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funding 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017520"/>
            <a:ext cx="3291840" cy="13716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3154680"/>
            <a:ext cx="32918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800" b="1">
                <a:solidFill>
                  <a:srgbClr val="00C853"/>
                </a:solidFill>
                <a:latin typeface="Poppins"/>
              </a:defRPr>
            </a:pPr>
            <a:r>
              <a:t>JPMorgan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79476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Wells Fargo,</a:t>
            </a:r>
            <a:br/>
            <a:r>
              <a:t>Morgan Stanley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10698480" cy="7315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262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C853"/>
                </a:solidFill>
                <a:latin typeface="Inter"/>
              </a:defRPr>
            </a:pPr>
            <a:r>
              <a:t>Greenlight for Banks: bancos PAGAM pelo acesso a plataforma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000" b="1">
                <a:solidFill>
                  <a:srgbClr val="FFFFFF"/>
                </a:solidFill>
                <a:latin typeface="Poppins"/>
              </a:defRPr>
            </a:pPr>
            <a:r>
              <a:t>GRANIX e o Greenlight brasileiro. Sobre a XP.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Poppins"/>
              </a:defRPr>
            </a:pPr>
            <a:r>
              <a:t>Mercado de R$8.1B com zero solucao completa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4572000" cy="3291840"/>
          </a:xfrm>
          <a:prstGeom prst="ellipse">
            <a:avLst/>
          </a:prstGeom>
          <a:solidFill>
            <a:srgbClr val="1A237E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2194560"/>
            <a:ext cx="3291840" cy="2560320"/>
          </a:xfrm>
          <a:prstGeom prst="ellipse">
            <a:avLst/>
          </a:prstGeom>
          <a:solidFill>
            <a:srgbClr val="252E8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8880" y="2560320"/>
            <a:ext cx="2011680" cy="1828800"/>
          </a:xfrm>
          <a:prstGeom prst="ellipse">
            <a:avLst/>
          </a:prstGeom>
          <a:solidFill>
            <a:srgbClr val="005A25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82296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76200" cy="82296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1907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TAM: R$8.1B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25.9M familias com filhos, R$216/ano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43200"/>
            <a:ext cx="5029200" cy="82296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76200" cy="822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81635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SAM: R$1.45B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5468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6.7M familias classes A/B/C com smartphone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40480"/>
            <a:ext cx="5029200" cy="82296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840480"/>
            <a:ext cx="76200" cy="8229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913632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6D00"/>
                </a:solidFill>
                <a:latin typeface="Poppins"/>
              </a:defRPr>
            </a:pPr>
            <a:r>
              <a:t>SOM: 500K familias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em 3 anos (7.5% do SAM)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Ninguem combina investimento + educacao gamificada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197358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560" y="130556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377440" y="1280160"/>
            <a:ext cx="133350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28240" y="130556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Cartao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40" y="1280160"/>
            <a:ext cx="133350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9840" y="130556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Tarefas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280160"/>
            <a:ext cx="133350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1440" y="130556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Educacao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280160"/>
            <a:ext cx="151638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3040" y="130556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Investimento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151638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7520" y="130556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Gamificacao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280160"/>
            <a:ext cx="1424940" cy="4648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52000" y="130556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Poppins"/>
              </a:defRPr>
            </a:pPr>
            <a:r>
              <a:t>4 Buckets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783080"/>
            <a:ext cx="19735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560" y="180848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Nubank Familia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78308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8240" y="180848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178308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9840" y="180848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178308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71440" y="180848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783080"/>
            <a:ext cx="15163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3040" y="180848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783080"/>
            <a:ext cx="15163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7520" y="180848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783080"/>
            <a:ext cx="142494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52000" y="180848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2286000"/>
            <a:ext cx="19735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560" y="231140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Inter Kids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228600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8240" y="231140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9040" y="228600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9840" y="231140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228600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1440" y="231140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2286000"/>
            <a:ext cx="15163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43040" y="231140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2286000"/>
            <a:ext cx="15163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7520" y="231140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2286000"/>
            <a:ext cx="142494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52000" y="231140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2788920"/>
            <a:ext cx="19735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6560" y="281432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C6 Yellow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278892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28240" y="281432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49040" y="278892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9840" y="281432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278892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1440" y="281432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2788920"/>
            <a:ext cx="15163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43040" y="281432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0" y="2788920"/>
            <a:ext cx="15163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7520" y="281432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2788920"/>
            <a:ext cx="142494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52000" y="281432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3291840"/>
            <a:ext cx="19735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6560" y="331724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NextJoy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329184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28240" y="331724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49040" y="329184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99840" y="331724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120640" y="329184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71440" y="331724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0" y="3291840"/>
            <a:ext cx="15163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43040" y="331724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20" y="3291840"/>
            <a:ext cx="15163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7520" y="331724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01200" y="3291840"/>
            <a:ext cx="142494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52000" y="331724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3794760"/>
            <a:ext cx="19735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6560" y="382016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BTG Jovem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377440" y="379476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428240" y="382016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749040" y="379476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99840" y="382016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20640" y="3794760"/>
            <a:ext cx="133350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71440" y="382016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92240" y="3794760"/>
            <a:ext cx="15163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43040" y="382016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046720" y="3794760"/>
            <a:ext cx="151638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97520" y="382016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01200" y="3794760"/>
            <a:ext cx="1424940" cy="4648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52000" y="382016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65760" y="4297680"/>
            <a:ext cx="19735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6560" y="432308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FFFFFF"/>
                </a:solidFill>
                <a:latin typeface="Inter"/>
              </a:defRPr>
            </a:pPr>
            <a:r>
              <a:t>XP (sozinha)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377440" y="429768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428240" y="432308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749040" y="429768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99840" y="432308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120640" y="4297680"/>
            <a:ext cx="133350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71440" y="432308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492240" y="4297680"/>
            <a:ext cx="15163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43040" y="432308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046720" y="4297680"/>
            <a:ext cx="151638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097520" y="432308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601200" y="4297680"/>
            <a:ext cx="1424940" cy="46482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52000" y="432308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555555"/>
                </a:solidFill>
                <a:latin typeface="Inter"/>
              </a:defRPr>
            </a:pPr>
            <a:r>
              <a:t>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5760" y="4800600"/>
            <a:ext cx="197358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6560" y="4826000"/>
            <a:ext cx="18592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00C853"/>
                </a:solidFill>
                <a:latin typeface="Inter"/>
              </a:defRPr>
            </a:pPr>
            <a:r>
              <a:t>XP + GRANIX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377440" y="4800600"/>
            <a:ext cx="133350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28240" y="482600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749040" y="4800600"/>
            <a:ext cx="133350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99840" y="482600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120640" y="4800600"/>
            <a:ext cx="133350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71440" y="4826000"/>
            <a:ext cx="121920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492240" y="4800600"/>
            <a:ext cx="151638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43040" y="482600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046720" y="4800600"/>
            <a:ext cx="151638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97520" y="4826000"/>
            <a:ext cx="140208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601200" y="4800600"/>
            <a:ext cx="1424940" cy="464820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52000" y="4826000"/>
            <a:ext cx="1310640" cy="401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Inter"/>
              </a:defRPr>
            </a:pPr>
            <a:r>
              <a:t>XP + GRANIX = unica solucao completa no mercado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FFFFFF"/>
                </a:solidFill>
                <a:latin typeface="Poppins"/>
              </a:defRPr>
            </a:pPr>
            <a:r>
              <a:t>Subscription Only. Simples e Escalavel.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34747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C853"/>
                </a:solidFill>
                <a:latin typeface="Poppins"/>
              </a:defRPr>
            </a:pPr>
            <a:r>
              <a:t>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R$0</a:t>
            </a:r>
            <a:r>
              <a:rPr sz="1400" b="0">
                <a:solidFill>
                  <a:srgbClr val="B0B0B0"/>
                </a:solidFill>
                <a:latin typeface="Inter"/>
              </a:rPr>
              <a:t>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Tarefas basicas</a:t>
            </a:r>
            <a:br/>
            <a:r>
              <a:t>Academy limitada</a:t>
            </a:r>
            <a:br/>
            <a:r>
              <a:t>2 buckets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3474720"/>
          </a:xfrm>
          <a:prstGeom prst="roundRect">
            <a:avLst/>
          </a:prstGeom>
          <a:solidFill>
            <a:srgbClr val="1A1E30"/>
          </a:solidFill>
          <a:ln w="381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146304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15568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Poppins"/>
              </a:defRPr>
            </a:pPr>
            <a:r>
              <a:t>RECOMENDADO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FAMILIA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R$19,90</a:t>
            </a:r>
            <a:r>
              <a:rPr sz="1400" b="0">
                <a:solidFill>
                  <a:srgbClr val="B0B0B0"/>
                </a:solidFill>
                <a:latin typeface="Inter"/>
              </a:rPr>
              <a:t>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743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Tudo ilimitado</a:t>
            </a:r>
            <a:br/>
            <a:r>
              <a:t>4 buckets completos</a:t>
            </a:r>
            <a:br/>
            <a:r>
              <a:t>Gamificacao completa</a:t>
            </a:r>
            <a:br/>
            <a:r>
              <a:t>Dashboard familiar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291840" cy="347472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00C853"/>
                </a:solidFill>
                <a:latin typeface="Poppins"/>
              </a:defRPr>
            </a:pPr>
            <a:r>
              <a:t>FAMILIA+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65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"/>
              </a:rPr>
              <a:t>R$39,90</a:t>
            </a:r>
            <a:r>
              <a:rPr sz="1400" b="0">
                <a:solidFill>
                  <a:srgbClr val="B0B0B0"/>
                </a:solidFill>
                <a:latin typeface="Inter"/>
              </a:rPr>
              <a:t>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2743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Multiplos filhos</a:t>
            </a:r>
            <a:br/>
            <a:r>
              <a:t>Relatorios avancados</a:t>
            </a:r>
            <a:br/>
            <a:r>
              <a:t>Simuladores de investimento</a:t>
            </a:r>
            <a:br/>
            <a:r>
              <a:t>Conteudo exclusivo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69848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5303520"/>
            <a:ext cx="6400800" cy="50292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20"/>
            <a:ext cx="64008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70% GRANIX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500" y="5303520"/>
            <a:ext cx="2743200" cy="5029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0500" y="5303520"/>
            <a:ext cx="2743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Poppins"/>
              </a:defRPr>
            </a:pPr>
            <a:r>
              <a:t>30% XP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707080"/>
                </a:solidFill>
                <a:latin typeface="Inter"/>
              </a:defRPr>
            </a:pPr>
            <a:r>
              <a:t>XP tambem retem 100% do interchange, float e spread de investimentos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5 Razoes para a XP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18288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9184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1. CAC Intergeracional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29260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Inter"/>
              </a:defRPr>
            </a:pPr>
            <a:r>
              <a:t>R$0 vs R$500-1,000/adulto. Crianca que cresce na XP vira cliente fiel aos 18.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18288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29184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630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6D00"/>
                </a:solidFill>
                <a:latin typeface="Poppins"/>
              </a:defRPr>
            </a:pPr>
            <a:r>
              <a:t>2. Defesa Competitiva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29260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Inter"/>
              </a:defRPr>
            </a:pPr>
            <a:r>
              <a:t>Nubank, Inter, C6 ja tem produtos youth. XP precisa responder agora.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291840" cy="18288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29184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6304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3. Instituto XP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74520"/>
            <a:ext cx="29260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Inter"/>
              </a:defRPr>
            </a:pPr>
            <a:r>
              <a:t>Produtiza a missao de educacao financeira do Instituto com tecnologia.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3383280"/>
            <a:ext cx="3291840" cy="18288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3383280"/>
            <a:ext cx="3291840" cy="635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5661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E91E63"/>
                </a:solidFill>
                <a:latin typeface="Poppins"/>
              </a:defRPr>
            </a:pPr>
            <a:r>
              <a:t>4. Revenue Share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77640"/>
            <a:ext cx="29260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Inter"/>
              </a:defRPr>
            </a:pPr>
            <a:r>
              <a:t>30% da receita recorrente sem nenhum custo de desenvolvimento.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83280"/>
            <a:ext cx="3291840" cy="18288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3291840" cy="635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9C27B0"/>
                </a:solidFill>
                <a:latin typeface="Poppins"/>
              </a:defRPr>
            </a:pPr>
            <a:r>
              <a:t>5. Greenlight Provou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40"/>
            <a:ext cx="29260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FFFFFF"/>
                </a:solidFill>
                <a:latin typeface="Inter"/>
              </a:defRPr>
            </a:pPr>
            <a:r>
              <a:t>150+ bancos parceiros no modelo identico. JPMorgan, Wells Fargo, Morgan Stanley.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O cliente que custa R$0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F44336"/>
                </a:solidFill>
                <a:latin typeface="Poppins"/>
              </a:defRPr>
            </a:pPr>
            <a:r>
              <a:t>Caminho Tradicional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Marketing R$500-1,000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59152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44336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06624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1 cliente adulto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54096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44336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01568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Pode churnar a qualquer momento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029200" cy="29260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480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C853"/>
                </a:solidFill>
                <a:latin typeface="Poppins"/>
              </a:defRPr>
            </a:pPr>
            <a:r>
              <a:t>Caminho GRANIX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Crianca 10 anos entra via pai 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00C853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06624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8 anos de educacao financeira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54096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00C853"/>
                </a:solidFill>
                <a:latin typeface="Inter"/>
              </a:defRPr>
            </a:pPr>
            <a: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01568"/>
            <a:ext cx="4480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FFFFFF"/>
                </a:solidFill>
                <a:latin typeface="Inter"/>
              </a:defRPr>
            </a:pPr>
            <a:r>
              <a:t>Cliente fiel aos 18 | CAC = R$0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698480" cy="64008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FFFF"/>
                </a:solidFill>
                <a:latin typeface="Inter"/>
              </a:defRPr>
            </a:pPr>
            <a:r>
              <a:t>Com 4.8M clientes, 5% de adocao = 240.000 familias = pipeline de futuros investidores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B0B0B0"/>
                </a:solidFill>
                <a:latin typeface="Inter"/>
              </a:defRPr>
            </a:pPr>
            <a:r>
              <a:t>Greenlight provou: JPMorgan e Wells Fargo investiram E se tornaram parceiros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Poppins"/>
              </a:defRPr>
            </a:pPr>
            <a:r>
              <a:t>Projecao 5 Anos - Cenario com Base XP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522220" cy="4373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305560"/>
            <a:ext cx="240792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3017520" y="1280160"/>
            <a:ext cx="1699260" cy="4373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8320" y="130556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Ano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280160"/>
            <a:ext cx="1699260" cy="4373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5680" y="130556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Ano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280160"/>
            <a:ext cx="1699260" cy="4373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3040" y="130556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Ano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1699260" cy="4373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400" y="130556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Ano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66960" y="1280160"/>
            <a:ext cx="1699260" cy="437388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7760" y="130556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Poppins"/>
              </a:defRPr>
            </a:pPr>
            <a:r>
              <a:t>Ano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755648"/>
            <a:ext cx="252222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000" y="1781048"/>
            <a:ext cx="240792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Familias totais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1755648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8320" y="1781048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48K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755648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5680" y="1781048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144K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755648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3040" y="1781048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240K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755648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0400" y="1781048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336K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755648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7760" y="1781048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480K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231136"/>
            <a:ext cx="2522220" cy="437388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000" y="2256536"/>
            <a:ext cx="240792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Familias pagantes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2231136"/>
            <a:ext cx="1699260" cy="437388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8320" y="2256536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24K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2231136"/>
            <a:ext cx="1699260" cy="437388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5680" y="2256536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72K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231136"/>
            <a:ext cx="1699260" cy="437388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3040" y="2256536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120K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231136"/>
            <a:ext cx="1699260" cy="437388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80400" y="2256536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168K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0" y="2231136"/>
            <a:ext cx="1699260" cy="437388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7760" y="2256536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240K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706624"/>
            <a:ext cx="252222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000" y="2732024"/>
            <a:ext cx="240792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Revenue bruto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2706624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68320" y="2732024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R$6.6M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2706624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5680" y="2732024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R$21.5M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2706624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43040" y="2732024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R$38.7M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2706624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0400" y="2732024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R$58.2M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66960" y="2706624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17760" y="2732024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R$86.1M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182112"/>
            <a:ext cx="2522220" cy="4373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000" y="3207512"/>
            <a:ext cx="240792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B0B0B0"/>
                </a:solidFill>
                <a:latin typeface="Inter"/>
              </a:defRPr>
            </a:pPr>
            <a:r>
              <a:t>Share Granix (70%)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17520" y="3182112"/>
            <a:ext cx="1699260" cy="4373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68320" y="3207512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R$4.6M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54880" y="3182112"/>
            <a:ext cx="1699260" cy="4373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05680" y="3207512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R$15.1M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3182112"/>
            <a:ext cx="1699260" cy="4373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3040" y="3207512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R$27.1M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0" y="3182112"/>
            <a:ext cx="1699260" cy="4373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0400" y="3207512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R$40.7M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66960" y="3182112"/>
            <a:ext cx="1699260" cy="437388"/>
          </a:xfrm>
          <a:prstGeom prst="roundRect">
            <a:avLst/>
          </a:prstGeom>
          <a:solidFill>
            <a:srgbClr val="00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7760" y="3207512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00C853"/>
                </a:solidFill>
                <a:latin typeface="Inter"/>
              </a:defRPr>
            </a:pPr>
            <a:r>
              <a:t>R$60.3M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657600"/>
            <a:ext cx="252222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8000" y="3683000"/>
            <a:ext cx="240792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B0B0B0"/>
                </a:solidFill>
                <a:latin typeface="Inter"/>
              </a:defRPr>
            </a:pPr>
            <a:r>
              <a:t>Share XP (30%)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017520" y="3657600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68320" y="368300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R$2.0M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0" y="3657600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5680" y="368300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R$6.5M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92240" y="3657600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43040" y="368300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R$11.6M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600" y="3657600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0400" y="368300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R$17.5M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66960" y="3657600"/>
            <a:ext cx="1699260" cy="437388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17760" y="3683000"/>
            <a:ext cx="1584960" cy="373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0">
                <a:solidFill>
                  <a:srgbClr val="FFFFFF"/>
                </a:solidFill>
                <a:latin typeface="Inter"/>
              </a:defRPr>
            </a:pPr>
            <a:r>
              <a:t>R$25.8M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B0B0B0"/>
                </a:solidFill>
                <a:latin typeface="Poppins"/>
              </a:defRPr>
            </a:pPr>
            <a:r>
              <a:t>Revenue Bruto (R$M)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371600" y="5655580"/>
            <a:ext cx="1371600" cy="1051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" y="53812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C853"/>
                </a:solidFill>
                <a:latin typeface="Poppins"/>
              </a:defRPr>
            </a:pPr>
            <a:r>
              <a:t>R$6.6M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71600" y="57861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0B0"/>
                </a:solidFill>
                <a:latin typeface="Inter"/>
              </a:defRPr>
            </a:pPr>
            <a:r>
              <a:t>Ano 1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00400" y="5418219"/>
            <a:ext cx="1371600" cy="342501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0" y="5143899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C853"/>
                </a:solidFill>
                <a:latin typeface="Poppins"/>
              </a:defRPr>
            </a:pPr>
            <a:r>
              <a:t>R$21.5M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0" y="57861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0B0"/>
                </a:solidFill>
                <a:latin typeface="Inter"/>
              </a:defRPr>
            </a:pPr>
            <a:r>
              <a:t>Ano 2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029200" y="5144217"/>
            <a:ext cx="1371600" cy="616503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29200" y="4869897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C853"/>
                </a:solidFill>
                <a:latin typeface="Poppins"/>
              </a:defRPr>
            </a:pPr>
            <a:r>
              <a:t>R$38.7M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29200" y="57861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0B0"/>
                </a:solidFill>
                <a:latin typeface="Inter"/>
              </a:defRPr>
            </a:pPr>
            <a:r>
              <a:t>Ano 3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858000" y="4833576"/>
            <a:ext cx="1371600" cy="927144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58000" y="4559256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C853"/>
                </a:solidFill>
                <a:latin typeface="Poppins"/>
              </a:defRPr>
            </a:pPr>
            <a:r>
              <a:t>R$58.2M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0" y="57861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0B0"/>
                </a:solidFill>
                <a:latin typeface="Inter"/>
              </a:defRPr>
            </a:pPr>
            <a:r>
              <a:t>Ano 4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686800" y="4389120"/>
            <a:ext cx="1371600" cy="137160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686800" y="41148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C853"/>
                </a:solidFill>
                <a:latin typeface="Poppins"/>
              </a:defRPr>
            </a:pPr>
            <a:r>
              <a:t>R$86.1M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86800" y="5786120"/>
            <a:ext cx="1371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B0B0B0"/>
                </a:solidFill>
                <a:latin typeface="Inter"/>
              </a:defRPr>
            </a:pPr>
            <a:r>
              <a:t>Ano 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Unit Economics Saudaveis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011680" cy="22860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00C853"/>
                </a:solidFill>
                <a:latin typeface="Poppins"/>
              </a:defRPr>
            </a:pPr>
            <a:r>
              <a:t>R$22,90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0320"/>
            <a:ext cx="1737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ARPU/mes</a:t>
            </a:r>
            <a:br/>
            <a:r>
              <a:t>(pagantes)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371600"/>
            <a:ext cx="2011680" cy="22860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4592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FF6D00"/>
                </a:solidFill>
                <a:latin typeface="Poppins"/>
              </a:defRPr>
            </a:pPr>
            <a:r>
              <a:t>R$85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60320"/>
            <a:ext cx="1737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CAC</a:t>
            </a:r>
            <a:br/>
            <a:r>
              <a:t>(via assessores XP)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2011680" cy="22860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2196F3"/>
                </a:solidFill>
                <a:latin typeface="Poppins"/>
              </a:defRPr>
            </a:pPr>
            <a:r>
              <a:t>R$687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560320"/>
            <a:ext cx="1737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LTV</a:t>
            </a:r>
            <a:br/>
            <a:r>
              <a:t>(30 meses avg)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371600"/>
            <a:ext cx="2011680" cy="22860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64592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00C853"/>
                </a:solidFill>
                <a:latin typeface="Poppins"/>
              </a:defRPr>
            </a:pPr>
            <a:r>
              <a:t>8.1x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60320"/>
            <a:ext cx="1737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LTV / CAC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371600"/>
            <a:ext cx="2011680" cy="228600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45920"/>
            <a:ext cx="2011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3600" b="1">
                <a:solidFill>
                  <a:srgbClr val="9C27B0"/>
                </a:solidFill>
                <a:latin typeface="Poppins"/>
              </a:defRPr>
            </a:pPr>
            <a:r>
              <a:t>3.7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560320"/>
            <a:ext cx="1737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300" b="0">
                <a:solidFill>
                  <a:srgbClr val="B0B0B0"/>
                </a:solidFill>
                <a:latin typeface="Inter"/>
              </a:defRPr>
            </a:pPr>
            <a:r>
              <a:t>meses</a:t>
            </a:r>
            <a:br/>
            <a:r>
              <a:t>Payback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605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B0B0B0"/>
                </a:solidFill>
                <a:latin typeface="Inter"/>
              </a:defRPr>
            </a:pPr>
            <a:r>
              <a:t>Benchmark: Greenlight LTV/CAC ~5x. GRANIX supera por ter CAC mais baixo</a:t>
            </a:r>
            <a:br/>
            <a:r>
              <a:t>via distribuicao XP (assessores + base de clientes existente).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18 Meses ate Escala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1600200"/>
            <a:ext cx="109728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002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M1-4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1945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Tarefas + 10 licoes</a:t>
            </a:r>
            <a:br/>
            <a:r>
              <a:t>Gamificacao basica</a:t>
            </a:r>
            <a:br/>
            <a:r>
              <a:t>Integracao conta XP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56032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23360" y="1600200"/>
            <a:ext cx="1097280" cy="3200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6002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FASE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574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2196F3"/>
                </a:solidFill>
                <a:latin typeface="Poppins"/>
              </a:defRPr>
            </a:pPr>
            <a:r>
              <a:t>M5-8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Academy Completa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26080"/>
            <a:ext cx="21945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Academy 4 trilhas</a:t>
            </a:r>
            <a:br/>
            <a:r>
              <a:t>Simuladores</a:t>
            </a:r>
            <a:br/>
            <a:r>
              <a:t>Tesouro Educa+ integration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71600"/>
            <a:ext cx="256032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1600200"/>
            <a:ext cx="1097280" cy="320040"/>
          </a:xfrm>
          <a:prstGeom prst="round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6002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FASE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0574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FF6D00"/>
                </a:solidFill>
                <a:latin typeface="Poppins"/>
              </a:defRPr>
            </a:pPr>
            <a:r>
              <a:t>M9-12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Gamificacao Avancada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21945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Avatar personalizavel</a:t>
            </a:r>
            <a:br/>
            <a:r>
              <a:t>Ranking + desafios</a:t>
            </a:r>
            <a:br/>
            <a:r>
              <a:t>Cartao Modal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371600"/>
            <a:ext cx="2560320" cy="32004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1371600"/>
            <a:ext cx="2560320" cy="635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1600200"/>
            <a:ext cx="109728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600200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Poppins"/>
              </a:defRPr>
            </a:pPr>
            <a:r>
              <a:t>FASE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05740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9C27B0"/>
                </a:solidFill>
                <a:latin typeface="Poppins"/>
              </a:defRPr>
            </a:pPr>
            <a:r>
              <a:t>M13-18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Escala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926080"/>
            <a:ext cx="21945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B0B0B0"/>
                </a:solidFill>
                <a:latin typeface="Inter"/>
              </a:defRPr>
            </a:pPr>
            <a:r>
              <a:t>White-label</a:t>
            </a:r>
            <a:br/>
            <a:r>
              <a:t>Expansao LATAM</a:t>
            </a:r>
            <a:br/>
            <a:r>
              <a:t>Parcerias escolas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1124712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21408" y="4791456"/>
            <a:ext cx="146304" cy="146304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956048" y="4791456"/>
            <a:ext cx="146304" cy="146304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90688" y="4791456"/>
            <a:ext cx="146304" cy="146304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25328" y="4791456"/>
            <a:ext cx="146304" cy="146304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Poppins"/>
              </a:defRPr>
            </a:pPr>
            <a:r>
              <a:t>Proposta de Parceria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291840" cy="20116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9184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2196F3"/>
                </a:solidFill>
                <a:latin typeface="Poppins"/>
              </a:defRPr>
            </a:pPr>
            <a:r>
              <a:t>1. Acesso a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APIs da XP e Banco Modal</a:t>
            </a:r>
            <a:br/>
            <a:r>
              <a:t>para integracao completa</a:t>
            </a:r>
            <a:br/>
            <a:r>
              <a:t>(contas, PIX, investimentos)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20116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3291840" cy="6350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00C853"/>
                </a:solidFill>
                <a:latin typeface="Poppins"/>
              </a:defRPr>
            </a:pPr>
            <a:r>
              <a:t>2. Distribuicao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Via assessores e base</a:t>
            </a:r>
            <a:br/>
            <a:r>
              <a:t>de clientes XP</a:t>
            </a:r>
            <a:br/>
            <a:r>
              <a:t>(4.8M familias potenciais)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291840" cy="2011680"/>
          </a:xfrm>
          <a:prstGeom prst="roundRect">
            <a:avLst/>
          </a:prstGeom>
          <a:solidFill>
            <a:srgbClr val="1A1E30"/>
          </a:solidFill>
          <a:ln w="25400">
            <a:solidFill>
              <a:srgbClr val="FF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29184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508760"/>
            <a:ext cx="2834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6D00"/>
                </a:solidFill>
                <a:latin typeface="Poppins"/>
              </a:defRPr>
            </a:pPr>
            <a:r>
              <a:t>3. Pre-Seed R$1.5M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011680"/>
            <a:ext cx="28346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FFFFFF"/>
                </a:solidFill>
                <a:latin typeface="Inter"/>
              </a:defRPr>
            </a:pPr>
            <a:r>
              <a:t>Equity a negociar</a:t>
            </a:r>
            <a:br/>
            <a:r>
              <a:t>Runway de 18 meses</a:t>
            </a:r>
            <a:br/>
            <a:r>
              <a:t>MVP + lancamento + escala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698480" cy="548640"/>
          </a:xfrm>
          <a:prstGeom prst="roundRect">
            <a:avLst/>
          </a:prstGeom>
          <a:solidFill>
            <a:srgbClr val="22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1">
                <a:solidFill>
                  <a:srgbClr val="00C853"/>
                </a:solidFill>
                <a:latin typeface="Poppins"/>
              </a:defRPr>
            </a:pPr>
            <a:r>
              <a:t>Revenue Share: 70% GRANIX / 30% XP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698480" cy="914400"/>
          </a:xfrm>
          <a:prstGeom prst="roundRect">
            <a:avLst/>
          </a:prstGeom>
          <a:solidFill>
            <a:srgbClr val="1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3484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FFFFFF"/>
                </a:solidFill>
                <a:latin typeface="Poppins"/>
              </a:defRPr>
            </a:pPr>
            <a:r>
              <a:t>"A questao nao e SE alguem vai construir o Greenlight brasileiro.</a:t>
            </a:r>
            <a:br/>
            <a:r>
              <a:t>E QUEM e QUANDO."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00C853"/>
                </a:solidFill>
                <a:latin typeface="Inter"/>
              </a:defRPr>
            </a:pPr>
            <a:r>
              <a:t>parceiros@granix.app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1">
                <a:solidFill>
                  <a:srgbClr val="FFFFFF"/>
                </a:solidFill>
                <a:latin typeface="Poppins"/>
              </a:defRPr>
            </a:pPr>
            <a:r>
              <a:t>Obrigado.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008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Confidencial | Marco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000" b="0">
                <a:solidFill>
                  <a:srgbClr val="707080"/>
                </a:solidFill>
                <a:latin typeface="Inter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