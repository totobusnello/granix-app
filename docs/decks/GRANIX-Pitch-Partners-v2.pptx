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39"/>
              </a:spcAft>
              <a:defRPr sz="7200" b="1">
                <a:solidFill>
                  <a:srgbClr val="00C853"/>
                </a:solidFill>
                <a:latin typeface="Poppins"/>
              </a:defRPr>
            </a:pPr>
            <a:r>
              <a:t>GRANIX</a:t>
            </a:r>
          </a:p>
          <a:p>
            <a:pPr algn="ctr">
              <a:spcAft>
                <a:spcPts val="239"/>
              </a:spcAft>
              <a:defRPr sz="1200" b="0">
                <a:solidFill>
                  <a:srgbClr val="0F1220"/>
                </a:solidFill>
                <a:latin typeface="Inter"/>
              </a:defRPr>
            </a:pPr>
          </a:p>
          <a:p>
            <a:pPr algn="ctr">
              <a:spcAft>
                <a:spcPts val="559"/>
              </a:spcAft>
              <a:defRPr sz="2800" b="0">
                <a:solidFill>
                  <a:srgbClr val="FFFFFF"/>
                </a:solidFill>
                <a:latin typeface="Poppins"/>
              </a:defRPr>
            </a:pPr>
            <a:r>
              <a:t>Component Library + AI Content Engine</a:t>
            </a:r>
          </a:p>
          <a:p>
            <a:pPr algn="ctr">
              <a:spcAft>
                <a:spcPts val="559"/>
              </a:spcAft>
              <a:defRPr sz="2800" b="0">
                <a:solidFill>
                  <a:srgbClr val="FFFFFF"/>
                </a:solidFill>
                <a:latin typeface="Poppins"/>
              </a:defRPr>
            </a:pPr>
            <a:r>
              <a:t>para Educacao Financeira de Jovens</a:t>
            </a:r>
          </a:p>
          <a:p>
            <a:pPr algn="ctr">
              <a:spcAft>
                <a:spcPts val="239"/>
              </a:spcAft>
              <a:defRPr sz="1200" b="0">
                <a:solidFill>
                  <a:srgbClr val="0F1220"/>
                </a:solidFill>
                <a:latin typeface="Inter"/>
              </a:defRPr>
            </a:pPr>
          </a:p>
          <a:p>
            <a:pPr algn="ctr">
              <a:spcAft>
                <a:spcPts val="319"/>
              </a:spcAft>
              <a:defRPr sz="1600" b="0">
                <a:solidFill>
                  <a:srgbClr val="B0B0B0"/>
                </a:solidFill>
                <a:latin typeface="Inter"/>
              </a:defRPr>
            </a:pPr>
            <a:r>
              <a:t>Embeddavel  •  White-label  •  AI-powered  •  Zero integracao com core bancario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669280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707080"/>
                </a:solidFill>
                <a:latin typeface="Inter"/>
              </a:defRPr>
            </a:pPr>
            <a:r>
              <a:t>Pitch para Parceiros Institucionais  |  Marco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O Gap: Conta de Menor Sem Experiencia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B0B0B0"/>
                </a:solidFill>
                <a:latin typeface="Inter"/>
              </a:defRPr>
            </a:pPr>
            <a:r>
              <a:t>Sua instituicao ja tem a infraestrutura. Falta a experiencia que engaja.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029200" cy="45720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029200" cy="6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00C853"/>
                </a:solidFill>
                <a:latin typeface="Poppins"/>
              </a:defRPr>
            </a:pPr>
            <a:r>
              <a:t>O que voce JA 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663440" cy="3794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FFFFFF"/>
                </a:solidFill>
                <a:latin typeface="Inter"/>
              </a:defRPr>
            </a:pPr>
            <a:r>
              <a:t>✅  Conta transacional (PIX, cartao)</a:t>
            </a:r>
            <a:br/>
            <a:r>
              <a:t>✅  Investimentos para menores</a:t>
            </a:r>
            <a:br/>
            <a:r>
              <a:t>✅  Compliance e regulacao</a:t>
            </a:r>
            <a:br/>
            <a:r>
              <a:t>✅  Base de clientes com filhos</a:t>
            </a:r>
            <a:br/>
            <a:r>
              <a:t>✅  App funcional</a:t>
            </a:r>
            <a:br/>
            <a:r>
              <a:t>✅  Assessores como canal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5029200" cy="45720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645920"/>
            <a:ext cx="5029200" cy="635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44336"/>
                </a:solidFill>
                <a:latin typeface="Poppins"/>
              </a:defRPr>
            </a:pPr>
            <a:r>
              <a:t>O que voce NAO 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40280"/>
            <a:ext cx="4663440" cy="3794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FFFFFF"/>
                </a:solidFill>
                <a:latin typeface="Inter"/>
              </a:defRPr>
            </a:pPr>
            <a:r>
              <a:t>❌  Experiencia adaptada para jovens</a:t>
            </a:r>
            <a:br/>
            <a:r>
              <a:t>❌  Educacao financeira interativa</a:t>
            </a:r>
            <a:br/>
            <a:r>
              <a:t>❌  Gamificacao de qualquer tipo</a:t>
            </a:r>
            <a:br/>
            <a:r>
              <a:t>❌  Sistema de tarefas/recompensas</a:t>
            </a:r>
            <a:br/>
            <a:r>
              <a:t>❌  AI personalizada por perfil</a:t>
            </a:r>
            <a:br/>
            <a:r>
              <a:t>❌  Framework financeiro (4 Potes)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A Barreira: Nenhuma API Externa no Ambiente Seguro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39"/>
              </a:spcAft>
              <a:defRPr sz="2200" b="0">
                <a:solidFill>
                  <a:srgbClr val="FFFFFF"/>
                </a:solidFill>
                <a:latin typeface="Inter"/>
              </a:defRPr>
            </a:pPr>
            <a:r>
              <a:t>Nenhuma instituicao financeira vai abrir seu ambiente seguro</a:t>
            </a:r>
          </a:p>
          <a:p>
            <a:pPr algn="l">
              <a:spcAft>
                <a:spcPts val="439"/>
              </a:spcAft>
              <a:defRPr sz="2200" b="0">
                <a:solidFill>
                  <a:srgbClr val="FFFFFF"/>
                </a:solidFill>
                <a:latin typeface="Inter"/>
              </a:defRPr>
            </a:pPr>
            <a:r>
              <a:t>de transacao para uma API externa.</a:t>
            </a:r>
          </a:p>
          <a:p>
            <a:pPr algn="l">
              <a:spcAft>
                <a:spcPts val="199"/>
              </a:spcAft>
              <a:defRPr sz="1000" b="0">
                <a:solidFill>
                  <a:srgbClr val="0F1220"/>
                </a:solidFill>
                <a:latin typeface="Inter"/>
              </a:defRPr>
            </a:pPr>
          </a:p>
          <a:p>
            <a:pPr algn="l">
              <a:spcAft>
                <a:spcPts val="479"/>
              </a:spcAft>
              <a:defRPr sz="2400" b="1">
                <a:solidFill>
                  <a:srgbClr val="00C853"/>
                </a:solidFill>
                <a:latin typeface="Poppins"/>
              </a:defRPr>
            </a:pPr>
            <a:r>
              <a:t>Por isso, GRANIX nao integra — GRANIX embeda.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474720"/>
            <a:ext cx="5303520" cy="292608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5303520" cy="6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C853"/>
                </a:solidFill>
                <a:latin typeface="Poppins"/>
              </a:defRPr>
            </a:pPr>
            <a:r>
              <a:t>DENTRO DO SEU APP (ambiente seguro)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493776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GRANIX Component Library</a:t>
            </a:r>
            <a:br/>
            <a:r>
              <a:t>• Componentes React/RN que voce importa</a:t>
            </a:r>
            <a:br/>
            <a:r>
              <a:t>• Recebem dados via props</a:t>
            </a:r>
            <a:br/>
            <a:r>
              <a:t>• Emitem callbacks (voce processa)</a:t>
            </a:r>
            <a:br/>
            <a:r>
              <a:t>• Zero acesso a APIs financeiras</a:t>
            </a:r>
            <a:br/>
            <a:r>
              <a:t>• Themeable com sua marca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74720"/>
            <a:ext cx="5303520" cy="292608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3474720"/>
            <a:ext cx="5303520" cy="635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65760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196F3"/>
                </a:solidFill>
                <a:latin typeface="Poppins"/>
              </a:defRPr>
            </a:pPr>
            <a:r>
              <a:t>GRANIX CLOUD (externo, sem PII)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069080"/>
            <a:ext cx="493776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AI Engine + Content CDN</a:t>
            </a:r>
            <a:br/>
            <a:r>
              <a:t>• Personaliza conteudo por perfil</a:t>
            </a:r>
            <a:br/>
            <a:r>
              <a:t>• Prediz churn e comportamento</a:t>
            </a:r>
            <a:br/>
            <a:r>
              <a:t>• Gera conteudo automaticamente</a:t>
            </a:r>
            <a:br/>
            <a:r>
              <a:t>• Recebe APENAS dados anonimizados</a:t>
            </a:r>
            <a:br/>
            <a:r>
              <a:t>• Zero dados financeiros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GRANIX: 4 Pilares em 1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B0B0B0"/>
                </a:solidFill>
                <a:latin typeface="Inter"/>
              </a:defRPr>
            </a:pPr>
            <a:r>
              <a:t>Tudo que falta na experiencia do seu app jovem, pronto para embeddar.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97480" cy="43891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97480" cy="6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C853"/>
                </a:solidFill>
                <a:latin typeface="Poppins"/>
              </a:defRPr>
            </a:pPr>
            <a:r>
              <a:t>Tarefas &amp; Recompensas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331720" cy="3611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Pais criam tarefas, filhos completam.</a:t>
            </a:r>
            <a:br/>
            <a:r>
              <a:t>Mesada digital, streaks, aprovacao.</a:t>
            </a:r>
            <a:br/>
            <a:r>
              <a:t>Motor de engajamento familiar.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697480" cy="43891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828800"/>
            <a:ext cx="2697480" cy="635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01168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196F3"/>
                </a:solidFill>
                <a:latin typeface="Poppins"/>
              </a:defRPr>
            </a:pPr>
            <a:r>
              <a:t>GRANIX Academy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23160"/>
            <a:ext cx="2331720" cy="3611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145 licoes por faixa etaria (6-17).</a:t>
            </a:r>
            <a:br/>
            <a:r>
              <a:t>Alinhado a BNCC.</a:t>
            </a:r>
            <a:br/>
            <a:r>
              <a:t>Quizzes, simuladores, desafios.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697480" cy="43891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2697480" cy="635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9C27B0"/>
                </a:solidFill>
                <a:latin typeface="Poppins"/>
              </a:defRPr>
            </a:pPr>
            <a:r>
              <a:t>Gamificacao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23160"/>
            <a:ext cx="2331720" cy="3611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XP, badges, niveis, avatar, ranking.</a:t>
            </a:r>
            <a:br/>
            <a:r>
              <a:t>Desafios semanais personalizados.</a:t>
            </a:r>
            <a:br/>
            <a:r>
              <a:t>Gamificacao alimentada por AI.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828800"/>
            <a:ext cx="2697480" cy="43891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828800"/>
            <a:ext cx="2697480" cy="635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01168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6D00"/>
                </a:solidFill>
                <a:latin typeface="Poppins"/>
              </a:defRPr>
            </a:pPr>
            <a:r>
              <a:t>4 Potes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423160"/>
            <a:ext cx="2331720" cy="3611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Gastar / Guardar / Doar / Investir.</a:t>
            </a:r>
            <a:br/>
            <a:r>
              <a:t>Framework visual educativo.</a:t>
            </a:r>
            <a:br/>
            <a:r>
              <a:t>Zero transacao — voce controla.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Fluxo: Onboarding em 3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B0B0B0"/>
                </a:solidFill>
                <a:latin typeface="Inter"/>
              </a:defRPr>
            </a:pPr>
            <a:r>
              <a:t>5 telas. O sistema se molda ao usuario. Momento 'aha!' no final.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2148840" cy="41148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194560"/>
            <a:ext cx="548640" cy="5486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400" b="1">
                <a:solidFill>
                  <a:srgbClr val="0F1220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965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0C853"/>
                </a:solidFill>
                <a:latin typeface="Poppins"/>
              </a:defRPr>
            </a:pPr>
            <a:r>
              <a:t>Familia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1965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07080"/>
                </a:solidFill>
                <a:latin typeface="Inter"/>
              </a:defRPr>
            </a:pPr>
            <a:r>
              <a:t>30s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49040"/>
            <a:ext cx="18745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Quantos filhos?</a:t>
            </a:r>
            <a:br/>
            <a:r>
              <a:t>Idades?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79" y="2011680"/>
            <a:ext cx="2148840" cy="41148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19" y="2194560"/>
            <a:ext cx="548640" cy="54864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19" y="219456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400" b="1">
                <a:solidFill>
                  <a:srgbClr val="0F1220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19" y="2926080"/>
            <a:ext cx="1965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2196F3"/>
                </a:solidFill>
                <a:latin typeface="Poppins"/>
              </a:defRPr>
            </a:pPr>
            <a:r>
              <a:t>Perfil Pai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19" y="3337560"/>
            <a:ext cx="1965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07080"/>
                </a:solidFill>
                <a:latin typeface="Inter"/>
              </a:defRPr>
            </a:pPr>
            <a:r>
              <a:t>30s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39" y="3749040"/>
            <a:ext cx="18745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Relacao com dinheiro</a:t>
            </a:r>
            <a:br/>
            <a:r>
              <a:t>Preocupacoes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011680"/>
            <a:ext cx="2148840" cy="41148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06440" y="2194560"/>
            <a:ext cx="548640" cy="54864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219456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400" b="1">
                <a:solidFill>
                  <a:srgbClr val="0F1220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926080"/>
            <a:ext cx="1965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6D00"/>
                </a:solidFill>
                <a:latin typeface="Poppins"/>
              </a:defRPr>
            </a:pPr>
            <a:r>
              <a:t>Perfil Jovem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37560"/>
            <a:ext cx="1965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07080"/>
                </a:solidFill>
                <a:latin typeface="Inter"/>
              </a:defRPr>
            </a:pPr>
            <a:r>
              <a:t>60s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749040"/>
            <a:ext cx="18745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Interesses</a:t>
            </a:r>
            <a:br/>
            <a:r>
              <a:t>R$100: o que faria?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19" y="2011680"/>
            <a:ext cx="2148840" cy="41148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38159" y="2194560"/>
            <a:ext cx="548640" cy="5486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59" y="219456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400" b="1">
                <a:solidFill>
                  <a:srgbClr val="0F1220"/>
                </a:solidFill>
                <a:latin typeface="Poppin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2926080"/>
            <a:ext cx="1965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9C27B0"/>
                </a:solidFill>
                <a:latin typeface="Poppins"/>
              </a:defRPr>
            </a:pPr>
            <a:r>
              <a:t>Quiz Flash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59" y="3337560"/>
            <a:ext cx="1965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07080"/>
                </a:solidFill>
                <a:latin typeface="Inter"/>
              </a:defRPr>
            </a:pPr>
            <a:r>
              <a:t>60s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749040"/>
            <a:ext cx="18745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5 perguntas rapidas</a:t>
            </a:r>
            <a:br/>
            <a:r>
              <a:t>Calibra nivel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2011680"/>
            <a:ext cx="2148840" cy="41148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469880" y="2194560"/>
            <a:ext cx="548640" cy="5486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219456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400" b="1">
                <a:solidFill>
                  <a:srgbClr val="0F1220"/>
                </a:solidFill>
                <a:latin typeface="Poppin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926080"/>
            <a:ext cx="1965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0C853"/>
                </a:solidFill>
                <a:latin typeface="Poppins"/>
              </a:defRPr>
            </a:pPr>
            <a:r>
              <a:t>Momento Aha!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337560"/>
            <a:ext cx="1965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07080"/>
                </a:solidFill>
                <a:latin typeface="Inter"/>
              </a:defRPr>
            </a:pPr>
            <a:r>
              <a:t>30s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749040"/>
            <a:ext cx="18745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Trilha montada</a:t>
            </a:r>
            <a:br/>
            <a:r>
              <a:t>1o badge + 4 Potes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00C853"/>
                </a:solidFill>
                <a:latin typeface="Inter"/>
              </a:defRPr>
            </a:pPr>
            <a:r>
              <a:t>AI processa cada resposta em tempo real — a trilha e personalizada ANTES do usuario comecar.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Fluxo: Primeira Sessao — Hook Imediato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B0B0B0"/>
                </a:solidFill>
                <a:latin typeface="Inter"/>
              </a:defRPr>
            </a:pPr>
            <a:r>
              <a:t>5-7 minutos. O jovem sai com licao, badge, quiz e objetivo nos 4 Potes.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97480" cy="25603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97480" cy="6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00C853"/>
                </a:solidFill>
                <a:latin typeface="Poppins"/>
              </a:defRPr>
            </a:pPr>
            <a:r>
              <a:t>1 licao contextualizada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33172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Tema conectado ao interesse</a:t>
            </a:r>
            <a:br/>
            <a:r>
              <a:t>(games, futebol, musica)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697480" cy="25603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828800"/>
            <a:ext cx="2697480" cy="635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01168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2196F3"/>
                </a:solidFill>
                <a:latin typeface="Poppins"/>
              </a:defRPr>
            </a:pPr>
            <a:r>
              <a:t>1 quiz aprovado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23160"/>
            <a:ext cx="233172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Feedback instantaneo</a:t>
            </a:r>
            <a:br/>
            <a:r>
              <a:t>'Eu sei coisas!'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697480" cy="25603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2697480" cy="635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FEB3B"/>
                </a:solidFill>
                <a:latin typeface="Poppins"/>
              </a:defRPr>
            </a:pPr>
            <a:r>
              <a:t>1 badge conquistado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23160"/>
            <a:ext cx="233172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Dopamina imediata</a:t>
            </a:r>
            <a:br/>
            <a:r>
              <a:t>'Quero mais!'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828800"/>
            <a:ext cx="2697480" cy="25603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828800"/>
            <a:ext cx="2697480" cy="635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01168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F6D00"/>
                </a:solidFill>
                <a:latin typeface="Poppins"/>
              </a:defRPr>
            </a:pPr>
            <a:r>
              <a:t>1 objetivo nos 4 Potes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423160"/>
            <a:ext cx="233172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Meta pessoal definida</a:t>
            </a:r>
            <a:br/>
            <a:r>
              <a:t>'Tenho um plano!'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Primeira licao e SEMPRE contextualizada ao interesse do jovem: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3474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0B0"/>
                </a:solidFill>
                <a:latin typeface="Inter"/>
              </a:defRPr>
            </a:pPr>
            <a:r>
              <a:t>Games:  "Quanto custa um jogo? O preco real das skins"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120640"/>
            <a:ext cx="3474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0B0"/>
                </a:solidFill>
                <a:latin typeface="Inter"/>
              </a:defRPr>
            </a:pPr>
            <a:r>
              <a:t>Futebol:  "O salario dos jogadores: de onde vem o dinheiro?"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120640"/>
            <a:ext cx="3474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0B0"/>
                </a:solidFill>
                <a:latin typeface="Inter"/>
              </a:defRPr>
            </a:pPr>
            <a:r>
              <a:t>Musica:  "Como artistas ganham dinheiro com streaming?"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00C853"/>
                </a:solidFill>
                <a:latin typeface="Inter"/>
              </a:defRPr>
            </a:pPr>
            <a:r>
              <a:t>Pai recebe: "Joao comecou sua jornada financeira! Crie a primeira tarefa para ele."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Fluxo: Loop Semanal de Engajamento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B0B0B0"/>
                </a:solidFill>
                <a:latin typeface="Inter"/>
              </a:defRPr>
            </a:pPr>
            <a:r>
              <a:t>AI gerencia o ritmo. Cada dia tem um proposito. Familia engajada junta.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011680"/>
            <a:ext cx="2148840" cy="32004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194560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0C853"/>
                </a:solidFill>
                <a:latin typeface="Poppins"/>
              </a:defRPr>
            </a:pPr>
            <a:r>
              <a:t>SEG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148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0">
                <a:solidFill>
                  <a:srgbClr val="FFFFFF"/>
                </a:solidFill>
                <a:latin typeface="Inter"/>
              </a:defRPr>
            </a:pPr>
            <a:r>
              <a:t>Desafio da</a:t>
            </a:r>
            <a:br/>
            <a:r>
              <a:t>semana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114800"/>
            <a:ext cx="2148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07080"/>
                </a:solidFill>
                <a:latin typeface="Inter"/>
              </a:defRPr>
            </a:pPr>
            <a:r>
              <a:t>AI-personalizado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39" y="2011680"/>
            <a:ext cx="2148840" cy="32004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39" y="2194560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196F3"/>
                </a:solidFill>
                <a:latin typeface="Poppins"/>
              </a:defRPr>
            </a:pPr>
            <a:r>
              <a:t>TER-QUI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2743200"/>
            <a:ext cx="2148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0">
                <a:solidFill>
                  <a:srgbClr val="FFFFFF"/>
                </a:solidFill>
                <a:latin typeface="Inter"/>
              </a:defRPr>
            </a:pPr>
            <a:r>
              <a:t>1-2 licoes</a:t>
            </a:r>
            <a:br/>
            <a:r>
              <a:t>curtas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39" y="4114800"/>
            <a:ext cx="2148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07080"/>
                </a:solidFill>
                <a:latin typeface="Inter"/>
              </a:defRPr>
            </a:pPr>
            <a:r>
              <a:t>5-8 min cada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59" y="2011680"/>
            <a:ext cx="2148840" cy="32004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2194560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9C27B0"/>
                </a:solidFill>
                <a:latin typeface="Poppins"/>
              </a:defRPr>
            </a:pPr>
            <a:r>
              <a:t>SEX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2743200"/>
            <a:ext cx="2148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0">
                <a:solidFill>
                  <a:srgbClr val="FFFFFF"/>
                </a:solidFill>
                <a:latin typeface="Inter"/>
              </a:defRPr>
            </a:pPr>
            <a:r>
              <a:t>Quiz semanal</a:t>
            </a:r>
            <a:br/>
            <a:r>
              <a:t>+ XP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4114800"/>
            <a:ext cx="2148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07080"/>
                </a:solidFill>
                <a:latin typeface="Inter"/>
              </a:defRPr>
            </a:pPr>
            <a:r>
              <a:t>Revisao + badge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79" y="2011680"/>
            <a:ext cx="2148840" cy="32004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79" y="2194560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6D00"/>
                </a:solidFill>
                <a:latin typeface="Poppins"/>
              </a:defRPr>
            </a:pPr>
            <a:r>
              <a:t>SAB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2743200"/>
            <a:ext cx="2148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0">
                <a:solidFill>
                  <a:srgbClr val="FFFFFF"/>
                </a:solidFill>
                <a:latin typeface="Inter"/>
              </a:defRPr>
            </a:pPr>
            <a:r>
              <a:t>Desafio</a:t>
            </a:r>
            <a:br/>
            <a:r>
              <a:t>pratico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4114800"/>
            <a:ext cx="2148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07080"/>
                </a:solidFill>
                <a:latin typeface="Inter"/>
              </a:defRPr>
            </a:pPr>
            <a:r>
              <a:t>Mundo real!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011680"/>
            <a:ext cx="2148840" cy="32004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194560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E91E63"/>
                </a:solidFill>
                <a:latin typeface="Poppins"/>
              </a:defRPr>
            </a:pPr>
            <a:r>
              <a:t>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743200"/>
            <a:ext cx="2148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0">
                <a:solidFill>
                  <a:srgbClr val="FFFFFF"/>
                </a:solidFill>
                <a:latin typeface="Inter"/>
              </a:defRPr>
            </a:pPr>
            <a:r>
              <a:t>Family time</a:t>
            </a:r>
            <a:br/>
            <a:r>
              <a:t>+ resumo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114800"/>
            <a:ext cx="2148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07080"/>
                </a:solidFill>
                <a:latin typeface="Inter"/>
              </a:defRPr>
            </a:pPr>
            <a:r>
              <a:t>Pai + filho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Cadencia por faixa:  Semente (6-8): 3-4x/sem, 3-5min  |  Broto (9-11): 4-5x, 5-7min  |  Arvore (12-14): 4-5x, 7-10min  |  Floresta (15-17): 3-5x, 8-12min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00C853"/>
                </a:solidFill>
                <a:latin typeface="Inter"/>
              </a:defRPr>
            </a:pPr>
            <a:r>
              <a:t>AI ajusta dinamicamente: mais engajamento → mais conteudo. Menos → reduz para nao saturar.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Conteudo: 145 Licoes, 4 Trilhas, Alinhado a BNCC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B0B0B0"/>
                </a:solidFill>
                <a:latin typeface="Inter"/>
              </a:defRPr>
            </a:pPr>
            <a:r>
              <a:t>Curriculo financeiro completo dos 6 aos 17 anos. AI cria e adapta continuamente.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97480" cy="384048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00C853"/>
                </a:solidFill>
                <a:latin typeface="Poppins"/>
              </a:defRPr>
            </a:pPr>
            <a:r>
              <a:t>Semente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697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707080"/>
                </a:solidFill>
                <a:latin typeface="Inter"/>
              </a:defRPr>
            </a:pPr>
            <a:r>
              <a:t>6-8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25 licoes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2697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"Descobrindo</a:t>
            </a:r>
            <a:br/>
            <a:r>
              <a:t>o Dinheiro"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31920"/>
            <a:ext cx="24231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Dinheiro, troca,</a:t>
            </a:r>
            <a:br/>
            <a:r>
              <a:t>cofrinho, mesada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697480" cy="384048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01168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2196F3"/>
                </a:solidFill>
                <a:latin typeface="Poppins"/>
              </a:defRPr>
            </a:pPr>
            <a:r>
              <a:t>Broto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468880"/>
            <a:ext cx="2697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707080"/>
                </a:solidFill>
                <a:latin typeface="Inter"/>
              </a:defRPr>
            </a:pPr>
            <a:r>
              <a:t>9-11 anos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78892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33 licoes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200400"/>
            <a:ext cx="2697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"Construindo</a:t>
            </a:r>
            <a:br/>
            <a:r>
              <a:t>Objetivos"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931920"/>
            <a:ext cx="24231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Orcamento, metas,</a:t>
            </a:r>
            <a:br/>
            <a:r>
              <a:t>empreendedorismo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828800"/>
            <a:ext cx="2697480" cy="384048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01168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6D00"/>
                </a:solidFill>
                <a:latin typeface="Poppins"/>
              </a:defRPr>
            </a:pPr>
            <a:r>
              <a:t>Arvore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68880"/>
            <a:ext cx="2697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707080"/>
                </a:solidFill>
                <a:latin typeface="Inter"/>
              </a:defRPr>
            </a:pPr>
            <a:r>
              <a:t>12-14 anos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78892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43 licoes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200400"/>
            <a:ext cx="2697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"Investindo</a:t>
            </a:r>
            <a:br/>
            <a:r>
              <a:t>no Futuro"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931920"/>
            <a:ext cx="24231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Juros compostos,</a:t>
            </a:r>
            <a:br/>
            <a:r>
              <a:t>investimentos, credito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828800"/>
            <a:ext cx="2697480" cy="384048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01168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9C27B0"/>
                </a:solidFill>
                <a:latin typeface="Poppins"/>
              </a:defRPr>
            </a:pPr>
            <a:r>
              <a:t>Floresta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468880"/>
            <a:ext cx="2697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707080"/>
                </a:solidFill>
                <a:latin typeface="Inter"/>
              </a:defRPr>
            </a:pPr>
            <a:r>
              <a:t>15-17 anos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788920"/>
            <a:ext cx="2697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44 licoes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200400"/>
            <a:ext cx="2697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"Dominando</a:t>
            </a:r>
            <a:br/>
            <a:r>
              <a:t>o Mercado"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931920"/>
            <a:ext cx="24231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Bolsa, previdencia,</a:t>
            </a:r>
            <a:br/>
            <a:r>
              <a:t>planejamento de vida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8 formatos: Historias Animadas  •  Quizzes  •  Simuladores  •  Desafios Praticos  •  Videos Curtos  •  Cenarios Interativos  •  Infograficos  •  Flashcards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AI: Personalizacao que Transforma 145 Licoes em Milhoes de Jornadas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635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196F3"/>
                </a:solidFill>
                <a:latin typeface="Poppins"/>
              </a:defRPr>
            </a:pPr>
            <a:r>
              <a:t>Learning Profile (por usuario)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937760" cy="4251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A AI constroi um perfil unico para cada jovem:</a:t>
            </a:r>
            <a:br/>
            <a:br/>
            <a:r>
              <a:t>• Faixa etaria + meses na plataforma</a:t>
            </a:r>
            <a:br/>
            <a:r>
              <a:t>• Formato preferido (simulador, quiz, video)</a:t>
            </a:r>
            <a:br/>
            <a:r>
              <a:t>• Duracao ideal de sessao (ex: 8 min)</a:t>
            </a:r>
            <a:br/>
            <a:r>
              <a:t>• Horario pico de engajamento</a:t>
            </a:r>
            <a:br/>
            <a:r>
              <a:t>• Areas fortes e fracas</a:t>
            </a:r>
            <a:br/>
            <a:r>
              <a:t>• Estilo de erro (impulsivo, cauteloso)</a:t>
            </a:r>
            <a:br/>
            <a:r>
              <a:t>• Interesses (futebol, games, musica)</a:t>
            </a:r>
            <a:br/>
            <a:r>
              <a:t>• Engajamento do pai</a:t>
            </a:r>
            <a:br/>
            <a:br/>
            <a:r>
              <a:t>Cada dado refina a experiencia em tempo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6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C853"/>
                </a:solidFill>
                <a:latin typeface="Poppins"/>
              </a:defRPr>
            </a:pPr>
            <a:r>
              <a:t>O que a AI decide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12064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• Proxima licao (tema + formato + dificuldade)</a:t>
            </a:r>
            <a:br/>
            <a:r>
              <a:t>• Quando enviar notificacao (horario otimo)</a:t>
            </a:r>
            <a:br/>
            <a:r>
              <a:t>• Qual contexto usar (futebol? games?)</a:t>
            </a:r>
            <a:br/>
            <a:r>
              <a:t>• Quando avancar de nivel</a:t>
            </a:r>
            <a:br/>
            <a:r>
              <a:t>• Quando intervir (frustacao ou tedio)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486400" cy="246888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486400" cy="635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9C27B0"/>
                </a:solidFill>
                <a:latin typeface="Poppins"/>
              </a:defRPr>
            </a:pPr>
            <a:r>
              <a:t>6 Micro-Segmentos AI-Detected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26280"/>
            <a:ext cx="512064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Explorador — alta curiosidade, pula entre temas</a:t>
            </a:r>
            <a:br/>
            <a:r>
              <a:t>Focado — aprofunda um tema ate dominar</a:t>
            </a:r>
            <a:br/>
            <a:r>
              <a:t>Social — engaja com rankings e competicao</a:t>
            </a:r>
            <a:br/>
            <a:r>
              <a:t>Pratico — prefere simuladores, hands-on</a:t>
            </a:r>
            <a:br/>
            <a:r>
              <a:t>Cauteloso — progride devagar, precisa reforco</a:t>
            </a:r>
            <a:br/>
            <a:r>
              <a:t>Intermitente — usa em rajadas, sessoes curtas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AI: Predicao de Churn + Criacao Automatizada de Conteudo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635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44336"/>
                </a:solidFill>
                <a:latin typeface="Poppins"/>
              </a:defRPr>
            </a:pPr>
            <a:r>
              <a:t>Predicao de Churn em 3 Camadas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120640" cy="4251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Alerta Amarelo (7-14 dias antes)</a:t>
            </a:r>
            <a:br/>
            <a:r>
              <a:t>• Reducao de sessoes, quizzes ignorados</a:t>
            </a:r>
            <a:br/>
            <a:r>
              <a:t>→ AI ajusta dificuldade + desafio personalizado</a:t>
            </a:r>
            <a:br/>
            <a:br/>
            <a:r>
              <a:t>Alerta Laranja (3-7 dias antes)</a:t>
            </a:r>
            <a:br/>
            <a:r>
              <a:t>• Zero sessoes por 3+ dias, pai inativo</a:t>
            </a:r>
            <a:br/>
            <a:r>
              <a:t>→ 'Missao de resgate' + notifica pai</a:t>
            </a:r>
            <a:br/>
            <a:br/>
            <a:r>
              <a:t>Alerta Vermelho (0-3 dias)</a:t>
            </a:r>
            <a:br/>
            <a:r>
              <a:t>• Zero sessoes 7+ dias, notificacoes off</a:t>
            </a:r>
            <a:br/>
            <a:r>
              <a:t>→ Email com progresso + oferta premium</a:t>
            </a:r>
            <a:br/>
            <a:br/>
            <a:r>
              <a:t>Resultado: reducao de churn de 5% para 2-3%</a:t>
            </a:r>
            <a:br/>
            <a:r>
              <a:t>ao longo de 24 meses.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635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BFA5"/>
                </a:solidFill>
                <a:latin typeface="Poppins"/>
              </a:defRPr>
            </a:pPr>
            <a:r>
              <a:t>Criacao Automatizada de Conteudo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12064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6 agentes AI em pipeline:</a:t>
            </a:r>
            <a:br/>
            <a:r>
              <a:t>Detector de Gaps → Gerador → Pedagogo Digital</a:t>
            </a:r>
            <a:br/>
            <a:r>
              <a:t>→ Review Humano → A/B Tester → Otimizador</a:t>
            </a:r>
            <a:br/>
            <a:br/>
            <a:r>
              <a:t>AI gera 80% do conteudo, humano valida.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2377440" cy="13716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06908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00C853"/>
                </a:solidFill>
                <a:latin typeface="Poppins"/>
              </a:defRPr>
            </a:pPr>
            <a: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75488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Reducao no custo</a:t>
            </a:r>
            <a:br/>
            <a:r>
              <a:t>por licao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3931920"/>
            <a:ext cx="2377440" cy="13716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406908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2196F3"/>
                </a:solidFill>
                <a:latin typeface="Poppins"/>
              </a:defRPr>
            </a:pPr>
            <a:r>
              <a:t>50+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75488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Licoes novas</a:t>
            </a:r>
            <a:br/>
            <a:r>
              <a:t>por 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486400"/>
            <a:ext cx="2377440" cy="13716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562356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6D00"/>
                </a:solidFill>
                <a:latin typeface="Poppins"/>
              </a:defRPr>
            </a:pPr>
            <a:r>
              <a:t>5-8x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63093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Variantes</a:t>
            </a:r>
            <a:br/>
            <a:r>
              <a:t>por licao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5486400"/>
            <a:ext cx="2377440" cy="13716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562356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9C27B0"/>
                </a:solidFill>
                <a:latin typeface="Poppins"/>
              </a:defRPr>
            </a:pPr>
            <a:r>
              <a:t>3-5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63093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Pessoas no</a:t>
            </a:r>
            <a:br/>
            <a:r>
              <a:t>time (nao 20)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4 Potes + Gamificacao: Educacao com Resultado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97480" cy="201168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00C853"/>
                </a:solidFill>
                <a:latin typeface="Poppins"/>
              </a:defRPr>
            </a:pPr>
            <a:r>
              <a:t>Gastar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514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Mesada livre,</a:t>
            </a:r>
            <a:br/>
            <a:r>
              <a:t>consumo consciente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45920"/>
            <a:ext cx="2697480" cy="201168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78308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2196F3"/>
                </a:solidFill>
                <a:latin typeface="Poppins"/>
              </a:defRPr>
            </a:pPr>
            <a:r>
              <a:t>Guardar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286000"/>
            <a:ext cx="2514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Objetivos,</a:t>
            </a:r>
            <a:br/>
            <a:r>
              <a:t>paciencia, metas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697480" cy="201168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E91E63"/>
                </a:solidFill>
                <a:latin typeface="Poppins"/>
              </a:defRPr>
            </a:pPr>
            <a:r>
              <a:t>Doar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86000"/>
            <a:ext cx="2514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Generosidade,</a:t>
            </a:r>
            <a:br/>
            <a:r>
              <a:t>impacto social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645920"/>
            <a:ext cx="2697480" cy="201168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783080"/>
            <a:ext cx="2697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FF6D00"/>
                </a:solidFill>
                <a:latin typeface="Poppins"/>
              </a:defRPr>
            </a:pPr>
            <a:r>
              <a:t>Investir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286000"/>
            <a:ext cx="2514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Futuro, juros,</a:t>
            </a:r>
            <a:br/>
            <a:r>
              <a:t>crescimento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Poppins"/>
              </a:defRPr>
            </a:pPr>
            <a:r>
              <a:t>Gamificacao alimentada por AI — cada desafio calibrado para o perfil individual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480560"/>
            <a:ext cx="1783080" cy="201168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572000"/>
            <a:ext cx="1783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00C853"/>
                </a:solidFill>
                <a:latin typeface="Poppins"/>
              </a:defRPr>
            </a:pPr>
            <a:r>
              <a:t>XP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029200"/>
            <a:ext cx="1691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B0B0B0"/>
                </a:solidFill>
                <a:latin typeface="Inter"/>
              </a:defRPr>
            </a:pPr>
            <a:r>
              <a:t>Experiencia por completar</a:t>
            </a:r>
            <a:br/>
            <a:r>
              <a:t>tarefas e licoes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480560"/>
            <a:ext cx="1783080" cy="201168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4572000"/>
            <a:ext cx="1783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00C853"/>
                </a:solidFill>
                <a:latin typeface="Poppins"/>
              </a:defRPr>
            </a:pPr>
            <a:r>
              <a:t>Niveis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5029200"/>
            <a:ext cx="1691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B0B0B0"/>
                </a:solidFill>
                <a:latin typeface="Inter"/>
              </a:defRPr>
            </a:pPr>
            <a:r>
              <a:t>Semente → Broto →</a:t>
            </a:r>
            <a:br/>
            <a:r>
              <a:t>Arvore → Floresta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4480560"/>
            <a:ext cx="1783080" cy="201168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4572000"/>
            <a:ext cx="1783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00C853"/>
                </a:solidFill>
                <a:latin typeface="Poppins"/>
              </a:defRPr>
            </a:pPr>
            <a:r>
              <a:t>Badges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5029200"/>
            <a:ext cx="1691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B0B0B0"/>
                </a:solidFill>
                <a:latin typeface="Inter"/>
              </a:defRPr>
            </a:pPr>
            <a:r>
              <a:t>Conquistas por marcos</a:t>
            </a:r>
            <a:br/>
            <a:r>
              <a:t>reais de aprendizado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480560"/>
            <a:ext cx="1783080" cy="201168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4572000"/>
            <a:ext cx="1783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00C853"/>
                </a:solidFill>
                <a:latin typeface="Poppins"/>
              </a:defRPr>
            </a:pPr>
            <a:r>
              <a:t>Avatar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029200"/>
            <a:ext cx="1691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B0B0B0"/>
                </a:solidFill>
                <a:latin typeface="Inter"/>
              </a:defRPr>
            </a:pPr>
            <a:r>
              <a:t>Personalizavel, evolui</a:t>
            </a:r>
            <a:br/>
            <a:r>
              <a:t>com o progresso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480560"/>
            <a:ext cx="1783080" cy="201168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4572000"/>
            <a:ext cx="1783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00C853"/>
                </a:solidFill>
                <a:latin typeface="Poppins"/>
              </a:defRPr>
            </a:pPr>
            <a:r>
              <a:t>Ranking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029200"/>
            <a:ext cx="1691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B0B0B0"/>
                </a:solidFill>
                <a:latin typeface="Inter"/>
              </a:defRPr>
            </a:pPr>
            <a:r>
              <a:t>Entre irmaos,</a:t>
            </a:r>
            <a:br/>
            <a:r>
              <a:t>competição saudavel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0" y="4480560"/>
            <a:ext cx="1783080" cy="201168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4572000"/>
            <a:ext cx="1783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00C853"/>
                </a:solidFill>
                <a:latin typeface="Poppins"/>
              </a:defRPr>
            </a:pPr>
            <a:r>
              <a:t>Streaks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5029200"/>
            <a:ext cx="1691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B0B0B0"/>
                </a:solidFill>
                <a:latin typeface="Inter"/>
              </a:defRPr>
            </a:pPr>
            <a:r>
              <a:t>Sequencias que</a:t>
            </a:r>
            <a:br/>
            <a:r>
              <a:t>motivam habito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White-Label: 100% Sua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B0B0B0"/>
                </a:solidFill>
                <a:latin typeface="Inter"/>
              </a:defRPr>
            </a:pPr>
            <a:r>
              <a:t>Seus clientes veem sua marca. GRANIX e invisivel — apenas 'by GRANIX' como selo.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303520" cy="6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C853"/>
                </a:solidFill>
                <a:latin typeface="Poppins"/>
              </a:defRPr>
            </a:pPr>
            <a:r>
              <a:t>O que voce customiza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937760" cy="3611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• Cores e paleta da sua marca</a:t>
            </a:r>
            <a:br/>
            <a:r>
              <a:t>• Logo e icones</a:t>
            </a:r>
            <a:br/>
            <a:r>
              <a:t>• Fontes tipograficas</a:t>
            </a:r>
            <a:br/>
            <a:r>
              <a:t>• Nome do programa (ex: 'XP Junior')</a:t>
            </a:r>
            <a:br/>
            <a:r>
              <a:t>• Produtos financeiros nos exemplos</a:t>
            </a:r>
            <a:br/>
            <a:r>
              <a:t>  (ex: Tesouro Educa+ da XP, CDB do Inter)</a:t>
            </a:r>
            <a:br/>
            <a:r>
              <a:t>• Tom de comunicacao</a:t>
            </a:r>
            <a:br/>
            <a:r>
              <a:t>• Controle parental branding</a:t>
            </a:r>
            <a:br/>
            <a:br/>
            <a:r>
              <a:t>Integracao: npm install @granix/components</a:t>
            </a:r>
            <a:br/>
            <a:r>
              <a:t>Tempo de setup: 3-4 semanas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43891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486400" cy="635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196F3"/>
                </a:solidFill>
                <a:latin typeface="Poppins"/>
              </a:defRPr>
            </a:pPr>
            <a:r>
              <a:t>Integracao Tecnica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5120640" cy="3611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Semana 1: Setup</a:t>
            </a:r>
            <a:br/>
            <a:r>
              <a:t>  npm install + configuracao de tema</a:t>
            </a:r>
            <a:br/>
            <a:r>
              <a:t>  Callbacks + documentacao</a:t>
            </a:r>
            <a:br/>
            <a:br/>
            <a:r>
              <a:t>Semana 2-3: Integracao</a:t>
            </a:r>
            <a:br/>
            <a:r>
              <a:t>  Embed de componentes no app</a:t>
            </a:r>
            <a:br/>
            <a:r>
              <a:t>  Conexao de callbacks com APIs internas</a:t>
            </a:r>
            <a:br/>
            <a:r>
              <a:t>  Testes em staging</a:t>
            </a:r>
            <a:br/>
            <a:br/>
            <a:r>
              <a:t>Semana 4: Go-live</a:t>
            </a:r>
            <a:br/>
            <a:r>
              <a:t>  Feature flag para rollout gradual</a:t>
            </a:r>
            <a:br/>
            <a:r>
              <a:t>  Monitoramento conjunto</a:t>
            </a:r>
            <a:br/>
            <a:br/>
            <a:r>
              <a:t>Recurso necessario: 1-2 devs do seu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Modelo de Negocio: Assinatura + Revenue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2926080"/>
          </a:xfrm>
          <a:prstGeom prst="roundRect">
            <a:avLst/>
          </a:prstGeom>
          <a:solidFill>
            <a:srgbClr val="1A1E30"/>
          </a:solidFill>
          <a:ln w="25400">
            <a:solidFill>
              <a:srgbClr val="70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707080"/>
                </a:solidFill>
                <a:latin typeface="Poppins"/>
              </a:defRPr>
            </a:pPr>
            <a:r>
              <a:t>Gratis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  <a:latin typeface="Poppins"/>
              </a:defRPr>
            </a:pPr>
            <a:r>
              <a:t>R$0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1089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Academy limitada</a:t>
            </a:r>
            <a:br/>
            <a:r>
              <a:t>1 licao/semana</a:t>
            </a:r>
            <a:br/>
            <a:r>
              <a:t>2 potes, 3 tarefas/mes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474720" cy="2926080"/>
          </a:xfrm>
          <a:prstGeom prst="roundRect">
            <a:avLst/>
          </a:prstGeom>
          <a:solidFill>
            <a:srgbClr val="1A1E30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50876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0C853"/>
                </a:solidFill>
                <a:latin typeface="Poppins"/>
              </a:defRPr>
            </a:pPr>
            <a:r>
              <a:t>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2024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  <a:latin typeface="Poppins"/>
              </a:defRPr>
            </a:pPr>
            <a:r>
              <a:t>R$19,90/mes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31089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Academy completa com AI</a:t>
            </a:r>
            <a:br/>
            <a:r>
              <a:t>4 potes, tarefas ilimitadas</a:t>
            </a:r>
            <a:br/>
            <a:r>
              <a:t>Gamificacao basica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371600"/>
            <a:ext cx="3474720" cy="2926080"/>
          </a:xfrm>
          <a:prstGeom prst="roundRect">
            <a:avLst/>
          </a:prstGeom>
          <a:solidFill>
            <a:srgbClr val="1A1E30"/>
          </a:solidFill>
          <a:ln w="254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150876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6D00"/>
                </a:solidFill>
                <a:latin typeface="Poppins"/>
              </a:defRPr>
            </a:pPr>
            <a:r>
              <a:t>Premium+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92024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  <a:latin typeface="Poppins"/>
              </a:defRPr>
            </a:pPr>
            <a:r>
              <a:t>R$39,90/mes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2468880"/>
            <a:ext cx="31089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Tudo + AI avancada</a:t>
            </a:r>
            <a:br/>
            <a:r>
              <a:t>Multi-filhos, simuladores</a:t>
            </a:r>
            <a:br/>
            <a:r>
              <a:t>Relatorios, desafios exclusivos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5303520" cy="201168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5303520" cy="6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C853"/>
                </a:solidFill>
                <a:latin typeface="Poppins"/>
              </a:defRPr>
            </a:pPr>
            <a:r>
              <a:t>Revenue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66360"/>
            <a:ext cx="493776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Assinatura:  GRANIX 70%  |  Sua instituicao 30%</a:t>
            </a:r>
            <a:br/>
            <a:r>
              <a:t>Transacoes financeiras: 100% para voce</a:t>
            </a:r>
            <a:br/>
            <a:r>
              <a:t>Interchange, float, spread: 100% para voce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572000"/>
            <a:ext cx="5486400" cy="201168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572000"/>
            <a:ext cx="5486400" cy="635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7548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196F3"/>
                </a:solidFill>
                <a:latin typeface="Poppins"/>
              </a:defRPr>
            </a:pPr>
            <a:r>
              <a:t>O que voce ganha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66360"/>
            <a:ext cx="51206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• 30% de receita recorrente sem custo de build</a:t>
            </a:r>
            <a:br/>
            <a:r>
              <a:t>• CAC intergeracional (jovem 10 → adulto 18)</a:t>
            </a:r>
            <a:br/>
            <a:r>
              <a:t>• Defesa competitiva vs Nubank, Inter, C6</a:t>
            </a:r>
            <a:br/>
            <a:r>
              <a:t>• AI anti-churn reduz abandono de conta familiar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Compliance: O Parceiro Mais Seguro Possivel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B0B0B0"/>
                </a:solidFill>
                <a:latin typeface="Inter"/>
              </a:defRPr>
            </a:pPr>
            <a:r>
              <a:t>LGPD Art. 14 + ECA Digital (em vigor desde 17/03/2026) + Privacy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2860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303520" cy="635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44336"/>
                </a:solidFill>
                <a:latin typeface="Poppins"/>
              </a:defRPr>
            </a:pPr>
            <a:r>
              <a:t>GRANIX NUNCA 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93776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FFFFFF"/>
                </a:solidFill>
                <a:latin typeface="Inter"/>
              </a:defRPr>
            </a:pPr>
            <a:r>
              <a:t>❌  Nome, CPF, RG, endereco</a:t>
            </a:r>
            <a:br/>
            <a:r>
              <a:t>❌  Saldo, transacoes, investimentos</a:t>
            </a:r>
            <a:br/>
            <a:r>
              <a:t>❌  Dados de cartao</a:t>
            </a:r>
            <a:br/>
            <a:r>
              <a:t>❌  Biometria ou localizacao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2860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486400" cy="6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C853"/>
                </a:solidFill>
                <a:latin typeface="Poppins"/>
              </a:defRPr>
            </a:pPr>
            <a:r>
              <a:t>GRANIX processa (anonimizado)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512064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FFFFFF"/>
                </a:solidFill>
                <a:latin typeface="Inter"/>
              </a:defRPr>
            </a:pPr>
            <a:r>
              <a:t>✅  Faixa etaria (nao idade exata)</a:t>
            </a:r>
            <a:br/>
            <a:r>
              <a:t>✅  Interesses declarados</a:t>
            </a:r>
            <a:br/>
            <a:r>
              <a:t>✅  Comportamento de aprendizado</a:t>
            </a:r>
            <a:br/>
            <a:r>
              <a:t>✅  Progresso de gamificacao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3566160" cy="91440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48056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C853"/>
                </a:solidFill>
                <a:latin typeface="Poppins"/>
              </a:defRPr>
            </a:pPr>
            <a:r>
              <a:t>✅  Verificacao de 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89204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0B0"/>
                </a:solidFill>
                <a:latin typeface="Inter"/>
              </a:defRPr>
            </a:pPr>
            <a:r>
              <a:t>Seu KYC ja faz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389120"/>
            <a:ext cx="3566160" cy="91440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48056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C853"/>
                </a:solidFill>
                <a:latin typeface="Poppins"/>
              </a:defRPr>
            </a:pPr>
            <a:r>
              <a:t>✅  Controle parental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89204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0B0"/>
                </a:solidFill>
                <a:latin typeface="Inter"/>
              </a:defRPr>
            </a:pPr>
            <a:r>
              <a:t>Dashboard do pai nativo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389120"/>
            <a:ext cx="3566160" cy="91440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48056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C853"/>
                </a:solidFill>
                <a:latin typeface="Poppins"/>
              </a:defRPr>
            </a:pPr>
            <a:r>
              <a:t>✅  Privacy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89204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0B0"/>
                </a:solidFill>
                <a:latin typeface="Inter"/>
              </a:defRPr>
            </a:pPr>
            <a:r>
              <a:t>Separacao desde dia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3566160" cy="91440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57784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C853"/>
                </a:solidFill>
                <a:latin typeface="Poppins"/>
              </a:defRPr>
            </a:pPr>
            <a:r>
              <a:t>✅  Zero publicidade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98932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0B0"/>
                </a:solidFill>
                <a:latin typeface="Inter"/>
              </a:defRPr>
            </a:pPr>
            <a:r>
              <a:t>Educacao, nao ads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5486400"/>
            <a:ext cx="3566160" cy="91440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57784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C853"/>
                </a:solidFill>
                <a:latin typeface="Poppins"/>
              </a:defRPr>
            </a:pPr>
            <a:r>
              <a:t>✅  Design seguro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98932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0B0"/>
                </a:solidFill>
                <a:latin typeface="Inter"/>
              </a:defRPr>
            </a:pPr>
            <a:r>
              <a:t>Zero PII no cloud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5486400"/>
            <a:ext cx="3566160" cy="91440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557784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C853"/>
                </a:solidFill>
                <a:latin typeface="Poppins"/>
              </a:defRPr>
            </a:pPr>
            <a:r>
              <a:t>✅  ISO 27001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598932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0B0"/>
                </a:solidFill>
                <a:latin typeface="Inter"/>
              </a:defRPr>
            </a:pPr>
            <a:r>
              <a:t>Certificacao Ano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Proximos Passos: PoC Sem Custo para Voce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2148840" cy="32004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0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0C853"/>
                </a:solidFill>
                <a:latin typeface="Poppins"/>
              </a:defRPr>
            </a:pPr>
            <a:r>
              <a:t>AGORA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48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Demo personalizada</a:t>
            </a:r>
            <a:br/>
            <a:r>
              <a:t>com sua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749040"/>
            <a:ext cx="2148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07080"/>
                </a:solidFill>
                <a:latin typeface="Inter"/>
              </a:defRPr>
            </a:pPr>
            <a:r>
              <a:t>Custo: R$0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83464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707080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39" y="1645920"/>
            <a:ext cx="2148840" cy="32004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39" y="1828800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2196F3"/>
                </a:solidFill>
                <a:latin typeface="Poppins"/>
              </a:defRPr>
            </a:pPr>
            <a:r>
              <a:t>SEMANAS 2-6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2377440"/>
            <a:ext cx="2148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PoC tecnica</a:t>
            </a:r>
            <a:br/>
            <a:r>
              <a:t>no seu staging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39" y="3749040"/>
            <a:ext cx="2148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07080"/>
                </a:solidFill>
                <a:latin typeface="Inter"/>
              </a:defRPr>
            </a:pPr>
            <a:r>
              <a:t>Custo: R$0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83464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707080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59" y="1645920"/>
            <a:ext cx="2148840" cy="32004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1828800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6D00"/>
                </a:solidFill>
                <a:latin typeface="Poppins"/>
              </a:defRPr>
            </a:pPr>
            <a:r>
              <a:t>MESES 2-4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2377440"/>
            <a:ext cx="2148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Piloto com</a:t>
            </a:r>
            <a:br/>
            <a:r>
              <a:t>500-1.000 familias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3749040"/>
            <a:ext cx="2148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07080"/>
                </a:solidFill>
                <a:latin typeface="Inter"/>
              </a:defRPr>
            </a:pPr>
            <a:r>
              <a:t>Metricas reais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59" y="283464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707080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79" y="1645920"/>
            <a:ext cx="2148840" cy="32004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79" y="1828800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9C27B0"/>
                </a:solidFill>
                <a:latin typeface="Poppins"/>
              </a:defRPr>
            </a:pPr>
            <a:r>
              <a:t>MES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2377440"/>
            <a:ext cx="2148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Go / No-Go</a:t>
            </a:r>
            <a:br/>
            <a:r>
              <a:t>baseado em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3749040"/>
            <a:ext cx="2148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07080"/>
                </a:solidFill>
                <a:latin typeface="Inter"/>
              </a:defRPr>
            </a:pPr>
            <a:r>
              <a:t>Decisao informada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79" y="283464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707080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645920"/>
            <a:ext cx="2148840" cy="3200400"/>
          </a:xfrm>
          <a:prstGeom prst="roundRect">
            <a:avLst/>
          </a:prstGeom>
          <a:solidFill>
            <a:srgbClr val="1A1E3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828800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0C853"/>
                </a:solidFill>
                <a:latin typeface="Poppins"/>
              </a:defRPr>
            </a:pPr>
            <a:r>
              <a:t>MES 5+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377440"/>
            <a:ext cx="2148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Rollout</a:t>
            </a:r>
            <a:br/>
            <a:r>
              <a:t>para base completa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749040"/>
            <a:ext cx="2148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07080"/>
                </a:solidFill>
                <a:latin typeface="Inter"/>
              </a:defRPr>
            </a:pPr>
            <a:r>
              <a:t>Receita recorrente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0352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399"/>
              </a:spcAft>
              <a:defRPr sz="2000" b="1">
                <a:solidFill>
                  <a:srgbClr val="00C853"/>
                </a:solidFill>
                <a:latin typeface="Poppins"/>
              </a:defRPr>
            </a:pPr>
            <a:r>
              <a:t>Risco zero para sua instituicao:</a:t>
            </a:r>
          </a:p>
          <a:p>
            <a:pPr algn="ctr">
              <a:spcAft>
                <a:spcPts val="359"/>
              </a:spcAft>
              <a:defRPr sz="1800" b="0">
                <a:solidFill>
                  <a:srgbClr val="FFFFFF"/>
                </a:solidFill>
                <a:latin typeface="Inter"/>
              </a:defRPr>
            </a:pPr>
            <a:r>
              <a:t>PoC e piloto sem custo. Decisao baseada em dados reais.</a:t>
            </a:r>
          </a:p>
          <a:p>
            <a:pPr algn="ctr">
              <a:spcAft>
                <a:spcPts val="359"/>
              </a:spcAft>
              <a:defRPr sz="1800" b="0">
                <a:solidFill>
                  <a:srgbClr val="FFFFFF"/>
                </a:solidFill>
                <a:latin typeface="Inter"/>
              </a:defRPr>
            </a:pPr>
            <a:r>
              <a:t>Voce so paga quando funciona.</a:t>
            </a:r>
          </a:p>
          <a:p>
            <a:pPr algn="ctr">
              <a:spcAft>
                <a:spcPts val="199"/>
              </a:spcAft>
              <a:defRPr sz="1000" b="0">
                <a:solidFill>
                  <a:srgbClr val="0F1220"/>
                </a:solidFill>
                <a:latin typeface="Inter"/>
              </a:defRPr>
            </a:pPr>
          </a:p>
          <a:p>
            <a:pPr algn="ctr">
              <a:spcAft>
                <a:spcPts val="279"/>
              </a:spcAft>
              <a:defRPr sz="1400" b="0">
                <a:solidFill>
                  <a:srgbClr val="707080"/>
                </a:solidFill>
                <a:latin typeface="Inter"/>
              </a:defRPr>
            </a:pPr>
            <a:r>
              <a:t>contato@granix.com.br  |  granix.com.br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